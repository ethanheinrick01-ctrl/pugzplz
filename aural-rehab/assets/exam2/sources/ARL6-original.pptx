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1" r:id="rId4"/>
  </p:sldMasterIdLst>
  <p:notesMasterIdLst>
    <p:notesMasterId r:id="rId61"/>
  </p:notesMasterIdLst>
  <p:handoutMasterIdLst>
    <p:handoutMasterId r:id="rId62"/>
  </p:handoutMasterIdLst>
  <p:sldIdLst>
    <p:sldId id="388" r:id="rId5"/>
    <p:sldId id="261" r:id="rId6"/>
    <p:sldId id="374" r:id="rId7"/>
    <p:sldId id="375" r:id="rId8"/>
    <p:sldId id="262" r:id="rId9"/>
    <p:sldId id="283" r:id="rId10"/>
    <p:sldId id="301" r:id="rId11"/>
    <p:sldId id="389" r:id="rId12"/>
    <p:sldId id="300" r:id="rId13"/>
    <p:sldId id="293" r:id="rId14"/>
    <p:sldId id="385" r:id="rId15"/>
    <p:sldId id="386" r:id="rId16"/>
    <p:sldId id="310" r:id="rId17"/>
    <p:sldId id="311" r:id="rId18"/>
    <p:sldId id="302" r:id="rId19"/>
    <p:sldId id="303" r:id="rId20"/>
    <p:sldId id="304" r:id="rId21"/>
    <p:sldId id="335" r:id="rId22"/>
    <p:sldId id="285" r:id="rId23"/>
    <p:sldId id="266" r:id="rId24"/>
    <p:sldId id="368" r:id="rId25"/>
    <p:sldId id="395" r:id="rId26"/>
    <p:sldId id="336" r:id="rId27"/>
    <p:sldId id="338" r:id="rId28"/>
    <p:sldId id="268" r:id="rId29"/>
    <p:sldId id="396" r:id="rId30"/>
    <p:sldId id="337" r:id="rId31"/>
    <p:sldId id="340" r:id="rId32"/>
    <p:sldId id="373" r:id="rId33"/>
    <p:sldId id="267" r:id="rId34"/>
    <p:sldId id="397" r:id="rId35"/>
    <p:sldId id="342" r:id="rId36"/>
    <p:sldId id="378" r:id="rId37"/>
    <p:sldId id="270" r:id="rId38"/>
    <p:sldId id="372" r:id="rId39"/>
    <p:sldId id="344" r:id="rId40"/>
    <p:sldId id="379" r:id="rId41"/>
    <p:sldId id="294" r:id="rId42"/>
    <p:sldId id="276" r:id="rId43"/>
    <p:sldId id="295" r:id="rId44"/>
    <p:sldId id="296" r:id="rId45"/>
    <p:sldId id="280" r:id="rId46"/>
    <p:sldId id="297" r:id="rId47"/>
    <p:sldId id="298" r:id="rId48"/>
    <p:sldId id="271" r:id="rId49"/>
    <p:sldId id="259" r:id="rId50"/>
    <p:sldId id="398" r:id="rId51"/>
    <p:sldId id="383" r:id="rId52"/>
    <p:sldId id="263" r:id="rId53"/>
    <p:sldId id="305" r:id="rId54"/>
    <p:sldId id="306" r:id="rId55"/>
    <p:sldId id="307" r:id="rId56"/>
    <p:sldId id="394" r:id="rId57"/>
    <p:sldId id="264" r:id="rId58"/>
    <p:sldId id="393" r:id="rId59"/>
    <p:sldId id="387"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19" autoAdjust="0"/>
    <p:restoredTop sz="94695"/>
  </p:normalViewPr>
  <p:slideViewPr>
    <p:cSldViewPr snapToGrid="0">
      <p:cViewPr varScale="1">
        <p:scale>
          <a:sx n="159" d="100"/>
          <a:sy n="159" d="100"/>
        </p:scale>
        <p:origin x="5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ney Sutherland" userId="98bb4322-090a-4351-aba2-b554f5ee7940" providerId="ADAL" clId="{686FFBC6-DE8E-478F-86FC-6E143C8D5F35}"/>
    <pc:docChg chg="modSld">
      <pc:chgData name="Whitney Sutherland" userId="98bb4322-090a-4351-aba2-b554f5ee7940" providerId="ADAL" clId="{686FFBC6-DE8E-478F-86FC-6E143C8D5F35}" dt="2026-10-22T15:02:12.635" v="20" actId="20577"/>
      <pc:docMkLst>
        <pc:docMk/>
      </pc:docMkLst>
      <pc:sldChg chg="modSp">
        <pc:chgData name="Whitney Sutherland" userId="98bb4322-090a-4351-aba2-b554f5ee7940" providerId="ADAL" clId="{686FFBC6-DE8E-478F-86FC-6E143C8D5F35}" dt="2026-10-22T15:02:12.635" v="20" actId="20577"/>
        <pc:sldMkLst>
          <pc:docMk/>
          <pc:sldMk cId="0" sldId="310"/>
        </pc:sldMkLst>
        <pc:spChg chg="mod">
          <ac:chgData name="Whitney Sutherland" userId="98bb4322-090a-4351-aba2-b554f5ee7940" providerId="ADAL" clId="{686FFBC6-DE8E-478F-86FC-6E143C8D5F35}" dt="2026-10-22T15:00:15.586" v="3" actId="20577"/>
          <ac:spMkLst>
            <pc:docMk/>
            <pc:sldMk cId="0" sldId="310"/>
            <ac:spMk id="2" creationId="{AD6DA10D-EFAC-49D7-87B0-4437CBFE104B}"/>
          </ac:spMkLst>
        </pc:spChg>
        <pc:spChg chg="mod">
          <ac:chgData name="Whitney Sutherland" userId="98bb4322-090a-4351-aba2-b554f5ee7940" providerId="ADAL" clId="{686FFBC6-DE8E-478F-86FC-6E143C8D5F35}" dt="2026-10-22T15:02:12.635" v="20" actId="20577"/>
          <ac:spMkLst>
            <pc:docMk/>
            <pc:sldMk cId="0" sldId="310"/>
            <ac:spMk id="31747" creationId="{8A16DF94-F8F7-42E2-9CF4-ECD950255B42}"/>
          </ac:spMkLst>
        </pc:spChg>
      </pc:sldChg>
      <pc:sldChg chg="modSp">
        <pc:chgData name="Whitney Sutherland" userId="98bb4322-090a-4351-aba2-b554f5ee7940" providerId="ADAL" clId="{686FFBC6-DE8E-478F-86FC-6E143C8D5F35}" dt="2026-10-22T15:00:22.698" v="6" actId="20577"/>
        <pc:sldMkLst>
          <pc:docMk/>
          <pc:sldMk cId="0" sldId="311"/>
        </pc:sldMkLst>
        <pc:spChg chg="mod">
          <ac:chgData name="Whitney Sutherland" userId="98bb4322-090a-4351-aba2-b554f5ee7940" providerId="ADAL" clId="{686FFBC6-DE8E-478F-86FC-6E143C8D5F35}" dt="2026-10-22T15:00:22.698" v="6" actId="20577"/>
          <ac:spMkLst>
            <pc:docMk/>
            <pc:sldMk cId="0" sldId="311"/>
            <ac:spMk id="2" creationId="{2977ECFC-406F-4550-BBC7-FDFF5FDDB8D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04090C-E57D-4321-A5FA-9939C8176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68E42F5-0C56-4219-B0EA-B6171EAFF17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35A5E6-A35B-4BDD-B818-6BE72D44FC48}" type="datetimeFigureOut">
              <a:rPr lang="en-US" smtClean="0"/>
              <a:t>10/22/26</a:t>
            </a:fld>
            <a:endParaRPr lang="en-US" dirty="0"/>
          </a:p>
        </p:txBody>
      </p:sp>
      <p:sp>
        <p:nvSpPr>
          <p:cNvPr id="4" name="Footer Placeholder 3">
            <a:extLst>
              <a:ext uri="{FF2B5EF4-FFF2-40B4-BE49-F238E27FC236}">
                <a16:creationId xmlns:a16="http://schemas.microsoft.com/office/drawing/2014/main" id="{2E580897-D30D-41A2-AE7F-B5B6D7F42A7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1209744-076D-4D2C-8515-671DBB3868A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042854-E7A2-43A6-BA89-D37EC00E5C7A}" type="slidenum">
              <a:rPr lang="en-US" smtClean="0"/>
              <a:t>‹#›</a:t>
            </a:fld>
            <a:endParaRPr lang="en-US" dirty="0"/>
          </a:p>
        </p:txBody>
      </p:sp>
    </p:spTree>
    <p:extLst>
      <p:ext uri="{BB962C8B-B14F-4D97-AF65-F5344CB8AC3E}">
        <p14:creationId xmlns:p14="http://schemas.microsoft.com/office/powerpoint/2010/main" val="294221057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68C48-C2D8-4A83-B111-1C750C0954EF}" type="datetimeFigureOut">
              <a:rPr lang="en-US" smtClean="0"/>
              <a:t>10/22/26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5FD155-40ED-456E-991D-D99DFE6B13E9}" type="slidenum">
              <a:rPr lang="en-US" smtClean="0"/>
              <a:t>‹#›</a:t>
            </a:fld>
            <a:endParaRPr lang="en-US" dirty="0"/>
          </a:p>
        </p:txBody>
      </p:sp>
    </p:spTree>
    <p:extLst>
      <p:ext uri="{BB962C8B-B14F-4D97-AF65-F5344CB8AC3E}">
        <p14:creationId xmlns:p14="http://schemas.microsoft.com/office/powerpoint/2010/main" val="10130623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0B6CDB4-D5A1-4176-91A9-BD1DB5345C5B}"/>
              </a:ext>
            </a:extLst>
          </p:cNvPr>
          <p:cNvSpPr>
            <a:spLocks noGrp="1" noChangeArrowheads="1"/>
          </p:cNvSpPr>
          <p:nvPr>
            <p:ph type="sldNum" sz="quarter" idx="5"/>
          </p:nvPr>
        </p:nvSpPr>
        <p:spPr>
          <a:ln/>
        </p:spPr>
        <p:txBody>
          <a:bodyPr/>
          <a:lstStyle/>
          <a:p>
            <a:fld id="{025E6C06-52D6-4802-B771-84A749FA7AC3}" type="slidenum">
              <a:rPr lang="en-US" altLang="en-US"/>
              <a:pPr/>
              <a:t>2</a:t>
            </a:fld>
            <a:endParaRPr lang="en-US" altLang="en-US" dirty="0"/>
          </a:p>
        </p:txBody>
      </p:sp>
      <p:sp>
        <p:nvSpPr>
          <p:cNvPr id="15362" name="Rectangle 2">
            <a:extLst>
              <a:ext uri="{FF2B5EF4-FFF2-40B4-BE49-F238E27FC236}">
                <a16:creationId xmlns:a16="http://schemas.microsoft.com/office/drawing/2014/main" id="{41BAC421-F85C-4C0B-A0C6-20B476967C91}"/>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F4FDBA95-F58E-4AF3-ACCF-042E18FA9E9D}"/>
              </a:ext>
            </a:extLst>
          </p:cNvPr>
          <p:cNvSpPr>
            <a:spLocks noGrp="1" noChangeArrowheads="1"/>
          </p:cNvSpPr>
          <p:nvPr>
            <p:ph type="body" idx="1"/>
          </p:nvPr>
        </p:nvSpPr>
        <p:spPr/>
        <p:txBody>
          <a:bodyPr/>
          <a:lstStyle/>
          <a:p>
            <a:r>
              <a:rPr lang="en-US" altLang="en-US" dirty="0"/>
              <a:t>Auditory training is most often used with children who are pre- and perilingually deaf.</a:t>
            </a:r>
          </a:p>
        </p:txBody>
      </p:sp>
    </p:spTree>
    <p:extLst>
      <p:ext uri="{BB962C8B-B14F-4D97-AF65-F5344CB8AC3E}">
        <p14:creationId xmlns:p14="http://schemas.microsoft.com/office/powerpoint/2010/main" val="4022942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442818-6917-47F5-884E-5CE454CC91AC}"/>
              </a:ext>
            </a:extLst>
          </p:cNvPr>
          <p:cNvSpPr>
            <a:spLocks noGrp="1" noChangeArrowheads="1"/>
          </p:cNvSpPr>
          <p:nvPr>
            <p:ph type="sldNum" sz="quarter" idx="5"/>
          </p:nvPr>
        </p:nvSpPr>
        <p:spPr>
          <a:ln/>
        </p:spPr>
        <p:txBody>
          <a:bodyPr/>
          <a:lstStyle/>
          <a:p>
            <a:fld id="{DFEDDE25-3BD8-4B00-B014-D68DEC32F821}" type="slidenum">
              <a:rPr lang="en-US" altLang="en-US"/>
              <a:pPr/>
              <a:t>20</a:t>
            </a:fld>
            <a:endParaRPr lang="en-US" altLang="en-US" dirty="0"/>
          </a:p>
        </p:txBody>
      </p:sp>
      <p:sp>
        <p:nvSpPr>
          <p:cNvPr id="81922" name="Rectangle 2">
            <a:extLst>
              <a:ext uri="{FF2B5EF4-FFF2-40B4-BE49-F238E27FC236}">
                <a16:creationId xmlns:a16="http://schemas.microsoft.com/office/drawing/2014/main" id="{9F6DF275-F4F8-4FAC-B9B8-198FC01DEDFE}"/>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C1B0EC99-12BA-45ED-A62B-5AF99347EE1C}"/>
              </a:ext>
            </a:extLst>
          </p:cNvPr>
          <p:cNvSpPr>
            <a:spLocks noGrp="1" noChangeArrowheads="1"/>
          </p:cNvSpPr>
          <p:nvPr>
            <p:ph type="body" idx="1"/>
          </p:nvPr>
        </p:nvSpPr>
        <p:spPr/>
        <p:txBody>
          <a:bodyPr/>
          <a:lstStyle/>
          <a:p>
            <a:pPr lvl="1"/>
            <a:r>
              <a:rPr lang="en-US" altLang="en-US" dirty="0"/>
              <a:t>indicates when an ongoing environmental sound stops (e.g., music)</a:t>
            </a:r>
          </a:p>
          <a:p>
            <a:pPr lvl="1"/>
            <a:r>
              <a:rPr lang="en-US" altLang="en-US" dirty="0"/>
              <a:t>indicates when a continuous speech syllable stops (e.g., sustained /ba/).</a:t>
            </a:r>
          </a:p>
          <a:p>
            <a:r>
              <a:rPr lang="en-US" altLang="en-US" dirty="0"/>
              <a:t>To develop sound awareness, a conditioned response is needed.</a:t>
            </a:r>
          </a:p>
          <a:p>
            <a:pPr lvl="1"/>
            <a:r>
              <a:rPr lang="en-US" altLang="en-US" u="sng" dirty="0"/>
              <a:t>Conditioned response</a:t>
            </a:r>
            <a:r>
              <a:rPr lang="en-US" altLang="en-US" dirty="0"/>
              <a:t>.  Child listens and responds in a defined way each time he/she hears a sound.</a:t>
            </a:r>
          </a:p>
          <a:p>
            <a:pPr lvl="1"/>
            <a:r>
              <a:rPr lang="en-US" altLang="en-US" u="sng" dirty="0"/>
              <a:t>To establish a conditioned response</a:t>
            </a:r>
            <a:r>
              <a:rPr lang="en-US" altLang="en-US" dirty="0"/>
              <a:t>:  </a:t>
            </a:r>
          </a:p>
          <a:p>
            <a:pPr lvl="2"/>
            <a:r>
              <a:rPr lang="en-US" altLang="en-US" dirty="0"/>
              <a:t>signal “listen”</a:t>
            </a:r>
          </a:p>
          <a:p>
            <a:pPr lvl="2"/>
            <a:r>
              <a:rPr lang="en-US" altLang="en-US" dirty="0"/>
              <a:t>pause and establish eye contact</a:t>
            </a:r>
          </a:p>
          <a:p>
            <a:pPr lvl="2"/>
            <a:r>
              <a:rPr lang="en-US" altLang="en-US" dirty="0"/>
              <a:t>cover mouth, be careful not to muffle the sound</a:t>
            </a:r>
          </a:p>
          <a:p>
            <a:pPr lvl="2"/>
            <a:r>
              <a:rPr lang="en-US" altLang="en-US" dirty="0"/>
              <a:t>pause (vary length to avoid over anticipation)</a:t>
            </a:r>
          </a:p>
          <a:p>
            <a:pPr lvl="2"/>
            <a:r>
              <a:rPr lang="en-US" altLang="en-US" dirty="0"/>
              <a:t>provide the sound</a:t>
            </a:r>
          </a:p>
          <a:p>
            <a:pPr lvl="2"/>
            <a:r>
              <a:rPr lang="en-US" altLang="en-US" dirty="0"/>
              <a:t>expect child to respond (may have to guide the child at first)</a:t>
            </a:r>
          </a:p>
          <a:p>
            <a:pPr lvl="2"/>
            <a:r>
              <a:rPr lang="en-US" altLang="en-US" dirty="0"/>
              <a:t>You may choose to use a listening hoop to avoid muffling the sound during listening activities.  A listening hoop is an embroidery hoop covered with two layers of special speaker cloth.</a:t>
            </a:r>
          </a:p>
          <a:p>
            <a:pPr lvl="2"/>
            <a:endParaRPr lang="en-US" altLang="en-US" dirty="0"/>
          </a:p>
          <a:p>
            <a:endParaRPr lang="en-US" altLang="en-US" dirty="0"/>
          </a:p>
          <a:p>
            <a:r>
              <a:rPr lang="en-US" sz="1200"/>
              <a:t>Detection means noticing that a sound is present or absent. It does not establish that the child can distinguish sounds or understand speech. Source: Schow &amp; Nerbonne, 8th ed., pp.118-119.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E49812-A695-4460-86C0-90D2AD4BD001}"/>
              </a:ext>
            </a:extLst>
          </p:cNvPr>
          <p:cNvSpPr>
            <a:spLocks noGrp="1" noChangeArrowheads="1"/>
          </p:cNvSpPr>
          <p:nvPr>
            <p:ph type="sldNum" sz="quarter" idx="5"/>
          </p:nvPr>
        </p:nvSpPr>
        <p:spPr>
          <a:ln/>
        </p:spPr>
        <p:txBody>
          <a:bodyPr/>
          <a:lstStyle/>
          <a:p>
            <a:fld id="{CCE6585E-F2D5-4E13-9DA1-EA45D3B40E1C}" type="slidenum">
              <a:rPr lang="en-US" altLang="en-US"/>
              <a:pPr/>
              <a:t>25</a:t>
            </a:fld>
            <a:endParaRPr lang="en-US" altLang="en-US" dirty="0"/>
          </a:p>
        </p:txBody>
      </p:sp>
      <p:sp>
        <p:nvSpPr>
          <p:cNvPr id="82946" name="Rectangle 2">
            <a:extLst>
              <a:ext uri="{FF2B5EF4-FFF2-40B4-BE49-F238E27FC236}">
                <a16:creationId xmlns:a16="http://schemas.microsoft.com/office/drawing/2014/main" id="{ED9E0283-5153-45D6-8262-827CFD3D2B3F}"/>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670F5A6F-3F6E-4F05-BE3B-4631ED3FA8C3}"/>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AE00706-E394-46D5-9A27-BF81C92A2430}"/>
              </a:ext>
            </a:extLst>
          </p:cNvPr>
          <p:cNvSpPr>
            <a:spLocks noGrp="1" noChangeArrowheads="1"/>
          </p:cNvSpPr>
          <p:nvPr>
            <p:ph type="sldNum" sz="quarter" idx="5"/>
          </p:nvPr>
        </p:nvSpPr>
        <p:spPr>
          <a:ln/>
        </p:spPr>
        <p:txBody>
          <a:bodyPr/>
          <a:lstStyle/>
          <a:p>
            <a:fld id="{66342A31-5408-411A-91CE-A125ED303C5E}" type="slidenum">
              <a:rPr lang="en-US" altLang="en-US"/>
              <a:pPr/>
              <a:t>30</a:t>
            </a:fld>
            <a:endParaRPr lang="en-US" altLang="en-US" dirty="0"/>
          </a:p>
        </p:txBody>
      </p:sp>
      <p:sp>
        <p:nvSpPr>
          <p:cNvPr id="83970" name="Rectangle 2">
            <a:extLst>
              <a:ext uri="{FF2B5EF4-FFF2-40B4-BE49-F238E27FC236}">
                <a16:creationId xmlns:a16="http://schemas.microsoft.com/office/drawing/2014/main" id="{C5201645-5569-496C-941B-C4B47483B4DE}"/>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F1AB4EFA-C14C-4F61-B8B8-76EFC3EB0142}"/>
              </a:ext>
            </a:extLst>
          </p:cNvPr>
          <p:cNvSpPr>
            <a:spLocks noGrp="1" noChangeArrowheads="1"/>
          </p:cNvSpPr>
          <p:nvPr>
            <p:ph type="body" idx="1"/>
          </p:nvPr>
        </p:nvSpPr>
        <p:spPr/>
        <p:txBody>
          <a:bodyPr/>
          <a:lstStyle/>
          <a:p>
            <a:r>
              <a:rPr lang="en-US" altLang="en-US" dirty="0"/>
              <a:t>repeating, pointing to, or writing the speech stimulus heard.</a:t>
            </a:r>
          </a:p>
          <a:p>
            <a:endParaRPr lang="en-US" altLang="en-US" dirty="0"/>
          </a:p>
          <a:p>
            <a:pPr lvl="1"/>
            <a:r>
              <a:rPr lang="en-US" altLang="en-US" dirty="0"/>
              <a:t>words with identical vowels and consonants differing only in manner</a:t>
            </a:r>
          </a:p>
          <a:p>
            <a:pPr lvl="2"/>
            <a:r>
              <a:rPr lang="en-US" altLang="en-US" dirty="0"/>
              <a:t>seat vs. cheat</a:t>
            </a:r>
          </a:p>
          <a:p>
            <a:pPr lvl="1"/>
            <a:r>
              <a:rPr lang="en-US" altLang="en-US" dirty="0"/>
              <a:t>words with identical vowels and consonants differing only in voicing</a:t>
            </a:r>
          </a:p>
          <a:p>
            <a:pPr lvl="2"/>
            <a:r>
              <a:rPr lang="en-US" altLang="en-US" dirty="0"/>
              <a:t>van vs. fan</a:t>
            </a:r>
          </a:p>
          <a:p>
            <a:endParaRPr lang="en-US" altLang="en-US" dirty="0"/>
          </a:p>
          <a:p>
            <a:r>
              <a:rPr lang="en-US" sz="1200"/>
              <a:t>Identification may be shown by repeating, pointing, or writing; spoken repetition is not the only response. In the slide 31 dog/fog example, /d/ and /f/ differ in place, manner, and voicing. Compare a voiced alveolar stop with a voiceless labiodental fricative. Sources: original slide 30 notes; slide 29; textbook p.116, Table 4-3.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4034D16-6B9A-4B20-A7A4-DE28F4BA604E}"/>
              </a:ext>
            </a:extLst>
          </p:cNvPr>
          <p:cNvSpPr>
            <a:spLocks noGrp="1" noChangeArrowheads="1"/>
          </p:cNvSpPr>
          <p:nvPr>
            <p:ph type="sldNum" sz="quarter" idx="5"/>
          </p:nvPr>
        </p:nvSpPr>
        <p:spPr>
          <a:ln/>
        </p:spPr>
        <p:txBody>
          <a:bodyPr/>
          <a:lstStyle/>
          <a:p>
            <a:fld id="{9333623F-13FE-44D4-8002-4EBECFD26797}" type="slidenum">
              <a:rPr lang="en-US" altLang="en-US"/>
              <a:pPr/>
              <a:t>34</a:t>
            </a:fld>
            <a:endParaRPr lang="en-US" altLang="en-US" dirty="0"/>
          </a:p>
        </p:txBody>
      </p:sp>
      <p:sp>
        <p:nvSpPr>
          <p:cNvPr id="84994" name="Rectangle 2">
            <a:extLst>
              <a:ext uri="{FF2B5EF4-FFF2-40B4-BE49-F238E27FC236}">
                <a16:creationId xmlns:a16="http://schemas.microsoft.com/office/drawing/2014/main" id="{049A63E2-F52B-4FBB-AC5F-A122A659F4AE}"/>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0C1CE086-EDCC-4B9D-8112-D593ACFDA721}"/>
              </a:ext>
            </a:extLst>
          </p:cNvPr>
          <p:cNvSpPr>
            <a:spLocks noGrp="1" noChangeArrowheads="1"/>
          </p:cNvSpPr>
          <p:nvPr>
            <p:ph type="body" idx="1"/>
          </p:nvPr>
        </p:nvSpPr>
        <p:spPr/>
        <p:txBody>
          <a:bodyPr/>
          <a:lstStyle/>
          <a:p>
            <a:pPr lvl="1"/>
            <a:r>
              <a:rPr lang="en-US" altLang="en-US" dirty="0"/>
              <a:t>Auditory sequencing</a:t>
            </a:r>
          </a:p>
          <a:p>
            <a:pPr lvl="2"/>
            <a:r>
              <a:rPr lang="en-US" altLang="en-US" dirty="0"/>
              <a:t>familiar expressions</a:t>
            </a:r>
          </a:p>
          <a:p>
            <a:pPr lvl="2"/>
            <a:r>
              <a:rPr lang="en-US" altLang="en-US" dirty="0"/>
              <a:t>follow single directions</a:t>
            </a:r>
          </a:p>
          <a:p>
            <a:pPr lvl="2"/>
            <a:r>
              <a:rPr lang="en-US" altLang="en-US" dirty="0"/>
              <a:t>follow classroom directions</a:t>
            </a:r>
          </a:p>
          <a:p>
            <a:pPr lvl="2"/>
            <a:r>
              <a:rPr lang="en-US" altLang="en-US" dirty="0"/>
              <a:t>follow multi-element directions</a:t>
            </a:r>
          </a:p>
          <a:p>
            <a:pPr lvl="1"/>
            <a:r>
              <a:rPr lang="en-US" altLang="en-US" dirty="0"/>
              <a:t>Structured listening set</a:t>
            </a:r>
          </a:p>
          <a:p>
            <a:pPr lvl="2"/>
            <a:r>
              <a:rPr lang="en-US" altLang="en-US" dirty="0"/>
              <a:t>recall details of a story</a:t>
            </a:r>
          </a:p>
          <a:p>
            <a:pPr lvl="2"/>
            <a:r>
              <a:rPr lang="en-US" altLang="en-US" dirty="0"/>
              <a:t>understand the main idea of a lesson or complex story</a:t>
            </a:r>
          </a:p>
          <a:p>
            <a:pPr lvl="1"/>
            <a:r>
              <a:rPr lang="en-US" altLang="en-US" dirty="0"/>
              <a:t>Conversation</a:t>
            </a:r>
          </a:p>
          <a:p>
            <a:pPr lvl="2"/>
            <a:r>
              <a:rPr lang="en-US" altLang="en-US" dirty="0"/>
              <a:t>answer questions requiring comprehension of the main idea</a:t>
            </a:r>
          </a:p>
          <a:p>
            <a:pPr lvl="2"/>
            <a:r>
              <a:rPr lang="en-US" altLang="en-US" dirty="0"/>
              <a:t>paraphrase remarks of another</a:t>
            </a:r>
          </a:p>
          <a:p>
            <a:pPr lvl="2"/>
            <a:r>
              <a:rPr lang="en-US" altLang="en-US" dirty="0"/>
              <a:t>offer spontaneous relevant remarks</a:t>
            </a:r>
          </a:p>
          <a:p>
            <a:endParaRPr lang="en-US" altLang="en-US" dirty="0"/>
          </a:p>
          <a:p>
            <a:r>
              <a:rPr lang="en-US" sz="1200"/>
              <a:t>Comprehension requires understanding the message. Following a direction or answering a question shows something different from merely repeating the words. Sources: slides 34-36 and existing notes; textbook p.119.</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9D3B21-1CC3-4427-BBE0-AF24B54A07CA}"/>
              </a:ext>
            </a:extLst>
          </p:cNvPr>
          <p:cNvSpPr>
            <a:spLocks noGrp="1" noChangeArrowheads="1"/>
          </p:cNvSpPr>
          <p:nvPr>
            <p:ph type="sldNum" sz="quarter" idx="5"/>
          </p:nvPr>
        </p:nvSpPr>
        <p:spPr>
          <a:ln/>
        </p:spPr>
        <p:txBody>
          <a:bodyPr/>
          <a:lstStyle/>
          <a:p>
            <a:fld id="{9BBD8418-CB39-4791-94E8-82F8B95ABD01}" type="slidenum">
              <a:rPr lang="en-US" altLang="en-US"/>
              <a:pPr/>
              <a:t>45</a:t>
            </a:fld>
            <a:endParaRPr lang="en-US" altLang="en-US" dirty="0"/>
          </a:p>
        </p:txBody>
      </p:sp>
      <p:sp>
        <p:nvSpPr>
          <p:cNvPr id="91138" name="Rectangle 2">
            <a:extLst>
              <a:ext uri="{FF2B5EF4-FFF2-40B4-BE49-F238E27FC236}">
                <a16:creationId xmlns:a16="http://schemas.microsoft.com/office/drawing/2014/main" id="{7DF9374D-54DB-4D4C-A3FC-CAB9057545C9}"/>
              </a:ext>
            </a:extLst>
          </p:cNvPr>
          <p:cNvSpPr>
            <a:spLocks noGrp="1" noRot="1" noChangeAspect="1" noChangeArrowheads="1" noTextEdit="1"/>
          </p:cNvSpPr>
          <p:nvPr>
            <p:ph type="sldImg"/>
          </p:nvPr>
        </p:nvSpPr>
        <p:spPr>
          <a:ln/>
        </p:spPr>
      </p:sp>
      <p:sp>
        <p:nvSpPr>
          <p:cNvPr id="91139" name="Rectangle 3">
            <a:extLst>
              <a:ext uri="{FF2B5EF4-FFF2-40B4-BE49-F238E27FC236}">
                <a16:creationId xmlns:a16="http://schemas.microsoft.com/office/drawing/2014/main" id="{01F90DC8-6368-4B36-936A-6DBBE28AB1AD}"/>
              </a:ext>
            </a:extLst>
          </p:cNvPr>
          <p:cNvSpPr>
            <a:spLocks noGrp="1" noChangeArrowheads="1"/>
          </p:cNvSpPr>
          <p:nvPr>
            <p:ph type="body" idx="1"/>
          </p:nvPr>
        </p:nvSpPr>
        <p:spPr/>
        <p:txBody>
          <a:bodyPr/>
          <a:lstStyle/>
          <a:p>
            <a:endParaRPr lang="en-US" altLang="en-US" dirty="0"/>
          </a:p>
          <a:p>
            <a:r>
              <a:rPr lang="en-US" sz="1200"/>
              <a:t>Adjust set size, stimulus length/similarity, context, structure, and listening conditions to keep practice challenging but manageable. Use the child’s baseline and specify response, cuing, and success criteria. Sources: slides 46-48; Writing Goals handout.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B7536C7-B4D2-478F-9C5D-C4379B4C2E56}"/>
              </a:ext>
            </a:extLst>
          </p:cNvPr>
          <p:cNvSpPr>
            <a:spLocks noGrp="1" noChangeArrowheads="1"/>
          </p:cNvSpPr>
          <p:nvPr>
            <p:ph type="sldNum" sz="quarter" idx="5"/>
          </p:nvPr>
        </p:nvSpPr>
        <p:spPr>
          <a:ln/>
        </p:spPr>
        <p:txBody>
          <a:bodyPr/>
          <a:lstStyle/>
          <a:p>
            <a:fld id="{2E6BB158-B3B9-45FE-A30E-BD57A8E8291A}" type="slidenum">
              <a:rPr lang="en-US" altLang="en-US"/>
              <a:pPr/>
              <a:t>49</a:t>
            </a:fld>
            <a:endParaRPr lang="en-US" altLang="en-US" dirty="0"/>
          </a:p>
        </p:txBody>
      </p:sp>
      <p:sp>
        <p:nvSpPr>
          <p:cNvPr id="72706" name="Rectangle 2">
            <a:extLst>
              <a:ext uri="{FF2B5EF4-FFF2-40B4-BE49-F238E27FC236}">
                <a16:creationId xmlns:a16="http://schemas.microsoft.com/office/drawing/2014/main" id="{31C044AE-8A6C-4B50-B0DA-81B2A327ED76}"/>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A44EBA39-E3AA-430A-9937-BE770CEC7EC8}"/>
              </a:ext>
            </a:extLst>
          </p:cNvPr>
          <p:cNvSpPr>
            <a:spLocks noGrp="1" noChangeArrowheads="1"/>
          </p:cNvSpPr>
          <p:nvPr>
            <p:ph type="body" idx="1"/>
          </p:nvPr>
        </p:nvSpPr>
        <p:spPr/>
        <p:txBody>
          <a:bodyPr/>
          <a:lstStyle/>
          <a:p>
            <a:r>
              <a:rPr lang="en-US" altLang="en-US" sz="1000" dirty="0"/>
              <a:t>SPICE is a curriculum kit for developing speech/listening skills/processing skills in children who use either cochlear implants or hearing aids. The kit includes a manual, a set of accompanying toys and picture cards, and a demonstration video. The program provides a sequence of lesson objectives and suggests a variety of activities for each objective. The activities are designed for children ages 3 through 12 and can be adapted to a variety of language levels. Goals for the curriculum are listed in four categories: detection, supra-segmental perception, vowels and consonants, and connected speech. </a:t>
            </a:r>
          </a:p>
          <a:p>
            <a:endParaRPr lang="en-US" altLang="en-US" sz="1000" dirty="0"/>
          </a:p>
          <a:p>
            <a:r>
              <a:rPr lang="en-US" altLang="en-US" sz="1000" dirty="0"/>
              <a:t>This oral, early intervention program is designed for professionals who work with families of children who are deaf or hard of hearing.   It focuses on language learning in the child's home environment.   It provides a toolbox for professionals to maximize the caregiver's language development techniques by encouraging interactions during everyday activities.   The premise is that providing opportunities for interaction in everyday life provides the groundwork for auditory and language development.   The curriculum includes a toolbox and VHS cassette. </a:t>
            </a:r>
          </a:p>
          <a:p>
            <a:endParaRPr lang="en-US" altLang="en-US" sz="1000" dirty="0"/>
          </a:p>
          <a:p>
            <a:r>
              <a:rPr lang="en-US" altLang="en-US" sz="1000" dirty="0"/>
              <a:t>A product to help assess, select objectives, and plan instruction to document and facilitate language acquisition in children with hearing loss. It is based on many of the language development beliefs of researcher Christie Yoshinaga-Itano (Language assessment of infants and toddlers with significant hearing loss, Seminars in Hearing, 1994) It includes a set of scales (pre-verbal, pre-sentence, simple sentence, complex sentence, sounds and speech) that follow the development of language, listening, cognition, and speech. The assessment component is based on language sampling. It also provides suggestions for using the tool to promote instruction in the addressed areas. </a:t>
            </a:r>
          </a:p>
        </p:txBody>
      </p:sp>
    </p:spTree>
    <p:extLst>
      <p:ext uri="{BB962C8B-B14F-4D97-AF65-F5344CB8AC3E}">
        <p14:creationId xmlns:p14="http://schemas.microsoft.com/office/powerpoint/2010/main" val="2752616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3C403B-4184-4E06-A8A3-74DB61B15972}"/>
              </a:ext>
            </a:extLst>
          </p:cNvPr>
          <p:cNvSpPr>
            <a:spLocks noGrp="1" noChangeArrowheads="1"/>
          </p:cNvSpPr>
          <p:nvPr>
            <p:ph type="sldNum" sz="quarter" idx="5"/>
          </p:nvPr>
        </p:nvSpPr>
        <p:spPr>
          <a:ln/>
        </p:spPr>
        <p:txBody>
          <a:bodyPr/>
          <a:lstStyle/>
          <a:p>
            <a:fld id="{49CA58B8-EEEA-4932-8E30-012A9FAAA117}" type="slidenum">
              <a:rPr lang="en-US" altLang="en-US"/>
              <a:pPr/>
              <a:t>54</a:t>
            </a:fld>
            <a:endParaRPr lang="en-US" altLang="en-US" dirty="0"/>
          </a:p>
        </p:txBody>
      </p:sp>
      <p:sp>
        <p:nvSpPr>
          <p:cNvPr id="75778" name="Rectangle 2">
            <a:extLst>
              <a:ext uri="{FF2B5EF4-FFF2-40B4-BE49-F238E27FC236}">
                <a16:creationId xmlns:a16="http://schemas.microsoft.com/office/drawing/2014/main" id="{C0A3BB7F-DA78-4232-B528-2AD7F797F552}"/>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16AEBB74-25C7-4825-A43F-642E0F801602}"/>
              </a:ext>
            </a:extLst>
          </p:cNvPr>
          <p:cNvSpPr>
            <a:spLocks noGrp="1" noChangeArrowheads="1"/>
          </p:cNvSpPr>
          <p:nvPr>
            <p:ph type="body" idx="1"/>
          </p:nvPr>
        </p:nvSpPr>
        <p:spPr/>
        <p:txBody>
          <a:bodyPr/>
          <a:lstStyle/>
          <a:p>
            <a:endParaRPr lang="en-US" altLang="en-US" dirty="0"/>
          </a:p>
          <a:p>
            <a:r>
              <a:rPr lang="en-US" sz="1200"/>
              <a:t>The shared listening skills are detection, discrimination, identification, and comprehension. Erber also supports integrating auditory work into conversation and daily activities rather than treating the sequence as a rigid schedule. Source: textbook p.134; slide 19.</a:t>
            </a:r>
          </a:p>
        </p:txBody>
      </p:sp>
    </p:spTree>
    <p:extLst>
      <p:ext uri="{BB962C8B-B14F-4D97-AF65-F5344CB8AC3E}">
        <p14:creationId xmlns:p14="http://schemas.microsoft.com/office/powerpoint/2010/main" val="649680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E6EA3F-6D8C-4006-9A0D-397FB5AFA304}" type="datetime1">
              <a:rPr lang="en-US" smtClean="0"/>
              <a:t>10/22/26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C51C943E-796B-416B-8F40-6FB0B60CFA1E}" type="slidenum">
              <a:rPr lang="en-US" smtClean="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6332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FA88CF-FF74-4D30-B674-6486258A71EB}" type="datetime1">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1C943E-796B-416B-8F40-6FB0B60CFA1E}" type="slidenum">
              <a:rPr lang="en-US" smtClean="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7406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73A342-F1A5-4AF6-BBD0-5534A23509C3}" type="datetime1">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1C943E-796B-416B-8F40-6FB0B60CFA1E}" type="slidenum">
              <a:rPr lang="en-US" smtClean="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4497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F7AF18-EE29-4E00-B8A0-C560F8B07EBD}" type="datetime1">
              <a:rPr lang="en-US" smtClean="0"/>
              <a:t>10/22/26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1C943E-796B-416B-8F40-6FB0B60CFA1E}" type="slidenum">
              <a:rPr lang="en-US" smtClean="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3153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2E94ABA-F788-40EE-9066-CA50300FBC61}" type="datetime1">
              <a:rPr lang="en-US" smtClean="0"/>
              <a:t>10/22/26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1C943E-796B-416B-8F40-6FB0B60CFA1E}" type="slidenum">
              <a:rPr lang="en-US" smtClean="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8677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810540-EE6A-4400-ADEA-D6291540B41E}" type="datetime1">
              <a:rPr lang="en-US" smtClean="0"/>
              <a:t>10/22/26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1C943E-796B-416B-8F40-6FB0B60CFA1E}" type="slidenum">
              <a:rPr lang="en-US" smtClean="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7991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74BECB-A7CE-4C6D-B36A-BEB342F2A741}" type="datetime1">
              <a:rPr lang="en-US" smtClean="0"/>
              <a:t>10/22/26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1C943E-796B-416B-8F40-6FB0B60CFA1E}" type="slidenum">
              <a:rPr lang="en-US" smtClean="0"/>
              <a:t>‹#›</a:t>
            </a:fld>
            <a:endParaRPr lang="en-US" dirty="0"/>
          </a:p>
        </p:txBody>
      </p:sp>
    </p:spTree>
    <p:extLst>
      <p:ext uri="{BB962C8B-B14F-4D97-AF65-F5344CB8AC3E}">
        <p14:creationId xmlns:p14="http://schemas.microsoft.com/office/powerpoint/2010/main" val="1075389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7BE6E2-8BBE-44ED-AEE0-FD3B8D3F4363}" type="datetime1">
              <a:rPr lang="en-US" smtClean="0"/>
              <a:t>10/22/26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1C943E-796B-416B-8F40-6FB0B60CFA1E}" type="slidenum">
              <a:rPr lang="en-US" smtClean="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51874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63077B01-F0F6-42A7-B086-C2D67C109528}" type="datetime1">
              <a:rPr lang="en-US" smtClean="0"/>
              <a:t>10/22/26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C51C943E-796B-416B-8F40-6FB0B60CFA1E}" type="slidenum">
              <a:rPr lang="en-US" smtClean="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0054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8A38B5-91D2-4F5B-B0CE-A37C2300E7E0}" type="datetime1">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1C943E-796B-416B-8F40-6FB0B60CFA1E}" type="slidenum">
              <a:rPr lang="en-US" smtClean="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7950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5B025-A143-4C88-AF9E-DD698449A4E4}" type="datetime1">
              <a:rPr lang="en-US" smtClean="0"/>
              <a:t>10/22/26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1C943E-796B-416B-8F40-6FB0B60CFA1E}" type="slidenum">
              <a:rPr lang="en-US" smtClean="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97536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68D2DEE4-F9DD-4685-93EE-4D569658D97A}" type="datetime1">
              <a:rPr lang="en-US" smtClean="0"/>
              <a:t>10/22/26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51C943E-796B-416B-8F40-6FB0B60CFA1E}" type="slidenum">
              <a:rPr lang="en-US" smtClean="0"/>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144798"/>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3890" r:id="rId9"/>
    <p:sldLayoutId id="2147483891" r:id="rId10"/>
    <p:sldLayoutId id="2147483892"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DD013A-0C4D-4332-9714-B721FB7E0BE1}"/>
              </a:ext>
            </a:extLst>
          </p:cNvPr>
          <p:cNvSpPr>
            <a:spLocks noGrp="1"/>
          </p:cNvSpPr>
          <p:nvPr>
            <p:ph type="ctrTitle"/>
          </p:nvPr>
        </p:nvSpPr>
        <p:spPr>
          <a:xfrm>
            <a:off x="5078896" y="643467"/>
            <a:ext cx="5975956" cy="4127545"/>
          </a:xfrm>
        </p:spPr>
        <p:txBody>
          <a:bodyPr anchor="ctr">
            <a:normAutofit/>
          </a:bodyPr>
          <a:lstStyle/>
          <a:p>
            <a:r>
              <a:rPr lang="en-US" sz="4800" dirty="0"/>
              <a:t>Auditory Training</a:t>
            </a:r>
          </a:p>
        </p:txBody>
      </p:sp>
      <p:sp>
        <p:nvSpPr>
          <p:cNvPr id="5" name="Subtitle 4">
            <a:extLst>
              <a:ext uri="{FF2B5EF4-FFF2-40B4-BE49-F238E27FC236}">
                <a16:creationId xmlns:a16="http://schemas.microsoft.com/office/drawing/2014/main" id="{DAFD3F07-8999-42D6-B3A7-EA7B845A1815}"/>
              </a:ext>
            </a:extLst>
          </p:cNvPr>
          <p:cNvSpPr>
            <a:spLocks noGrp="1"/>
          </p:cNvSpPr>
          <p:nvPr>
            <p:ph type="subTitle" idx="1"/>
          </p:nvPr>
        </p:nvSpPr>
        <p:spPr>
          <a:xfrm>
            <a:off x="5078896" y="5118231"/>
            <a:ext cx="5975956" cy="977621"/>
          </a:xfrm>
        </p:spPr>
        <p:txBody>
          <a:bodyPr>
            <a:normAutofit/>
          </a:bodyPr>
          <a:lstStyle/>
          <a:p>
            <a:endParaRPr lang="en-US" dirty="0">
              <a:solidFill>
                <a:srgbClr val="FFFFFF"/>
              </a:solidFill>
            </a:endParaRPr>
          </a:p>
        </p:txBody>
      </p:sp>
      <p:pic>
        <p:nvPicPr>
          <p:cNvPr id="7" name="Picture 6">
            <a:extLst>
              <a:ext uri="{FF2B5EF4-FFF2-40B4-BE49-F238E27FC236}">
                <a16:creationId xmlns:a16="http://schemas.microsoft.com/office/drawing/2014/main" id="{91D265DD-7DE5-4967-BEB8-B453E7171F2C}"/>
              </a:ext>
            </a:extLst>
          </p:cNvPr>
          <p:cNvPicPr>
            <a:picLocks noChangeAspect="1"/>
          </p:cNvPicPr>
          <p:nvPr/>
        </p:nvPicPr>
        <p:blipFill rotWithShape="1">
          <a:blip r:embed="rId2"/>
          <a:srcRect l="55070" r="-1" b="-1"/>
          <a:stretch/>
        </p:blipFill>
        <p:spPr>
          <a:xfrm>
            <a:off x="3179" y="-2"/>
            <a:ext cx="4651117" cy="6858002"/>
          </a:xfrm>
          <a:prstGeom prst="rect">
            <a:avLst/>
          </a:prstGeom>
        </p:spPr>
      </p:pic>
      <p:sp>
        <p:nvSpPr>
          <p:cNvPr id="6" name="Slide Number Placeholder 5">
            <a:extLst>
              <a:ext uri="{FF2B5EF4-FFF2-40B4-BE49-F238E27FC236}">
                <a16:creationId xmlns:a16="http://schemas.microsoft.com/office/drawing/2014/main" id="{2E746590-31FC-4078-9581-AC8259703374}"/>
              </a:ext>
            </a:extLst>
          </p:cNvPr>
          <p:cNvSpPr>
            <a:spLocks noGrp="1"/>
          </p:cNvSpPr>
          <p:nvPr>
            <p:ph type="sldNum" sz="quarter" idx="12"/>
          </p:nvPr>
        </p:nvSpPr>
        <p:spPr>
          <a:xfrm>
            <a:off x="11676184" y="79131"/>
            <a:ext cx="515815" cy="483577"/>
          </a:xfrm>
        </p:spPr>
        <p:txBody>
          <a:bodyPr/>
          <a:lstStyle/>
          <a:p>
            <a:fld id="{C51C943E-796B-416B-8F40-6FB0B60CFA1E}" type="slidenum">
              <a:rPr lang="en-US" smtClean="0"/>
              <a:t>1</a:t>
            </a:fld>
            <a:endParaRPr lang="en-US" dirty="0"/>
          </a:p>
        </p:txBody>
      </p:sp>
    </p:spTree>
    <p:extLst>
      <p:ext uri="{BB962C8B-B14F-4D97-AF65-F5344CB8AC3E}">
        <p14:creationId xmlns:p14="http://schemas.microsoft.com/office/powerpoint/2010/main" val="4170486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11269" name="Rectangle 71">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70" name="Rectangle 73">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66" name="Rectangle 2">
            <a:extLst>
              <a:ext uri="{FF2B5EF4-FFF2-40B4-BE49-F238E27FC236}">
                <a16:creationId xmlns:a16="http://schemas.microsoft.com/office/drawing/2014/main" id="{DBFD9BE9-86B9-481D-BAE2-ADF3E1389BA8}"/>
              </a:ext>
            </a:extLst>
          </p:cNvPr>
          <p:cNvSpPr>
            <a:spLocks noGrp="1" noChangeArrowheads="1"/>
          </p:cNvSpPr>
          <p:nvPr>
            <p:ph type="title"/>
          </p:nvPr>
        </p:nvSpPr>
        <p:spPr>
          <a:xfrm>
            <a:off x="849683" y="1240076"/>
            <a:ext cx="2727813" cy="4584527"/>
          </a:xfrm>
        </p:spPr>
        <p:txBody>
          <a:bodyPr>
            <a:normAutofit/>
          </a:bodyPr>
          <a:lstStyle/>
          <a:p>
            <a:r>
              <a:rPr lang="en-US" altLang="en-US" dirty="0">
                <a:solidFill>
                  <a:srgbClr val="FFFFFF"/>
                </a:solidFill>
              </a:rPr>
              <a:t>Auditory training</a:t>
            </a:r>
          </a:p>
        </p:txBody>
      </p:sp>
      <p:sp>
        <p:nvSpPr>
          <p:cNvPr id="2" name="Slide Number Placeholder 1">
            <a:extLst>
              <a:ext uri="{FF2B5EF4-FFF2-40B4-BE49-F238E27FC236}">
                <a16:creationId xmlns:a16="http://schemas.microsoft.com/office/drawing/2014/main" id="{B96F3AC5-ED3E-457A-AAEE-7B69AE01343E}"/>
              </a:ext>
            </a:extLst>
          </p:cNvPr>
          <p:cNvSpPr>
            <a:spLocks noGrp="1"/>
          </p:cNvSpPr>
          <p:nvPr>
            <p:ph type="sldNum" sz="quarter" idx="12"/>
          </p:nvPr>
        </p:nvSpPr>
        <p:spPr>
          <a:xfrm>
            <a:off x="10900921" y="232118"/>
            <a:ext cx="811019" cy="503578"/>
          </a:xfrm>
        </p:spPr>
        <p:txBody>
          <a:bodyPr>
            <a:normAutofit/>
          </a:bodyPr>
          <a:lstStyle/>
          <a:p>
            <a:pPr>
              <a:lnSpc>
                <a:spcPct val="90000"/>
              </a:lnSpc>
              <a:spcAft>
                <a:spcPts val="600"/>
              </a:spcAft>
            </a:pPr>
            <a:fld id="{C51C943E-796B-416B-8F40-6FB0B60CFA1E}" type="slidenum">
              <a:rPr lang="en-US" smtClean="0"/>
              <a:pPr>
                <a:lnSpc>
                  <a:spcPct val="90000"/>
                </a:lnSpc>
                <a:spcAft>
                  <a:spcPts val="600"/>
                </a:spcAft>
              </a:pPr>
              <a:t>2</a:t>
            </a:fld>
            <a:endParaRPr lang="en-US" dirty="0"/>
          </a:p>
        </p:txBody>
      </p:sp>
      <p:sp>
        <p:nvSpPr>
          <p:cNvPr id="11267" name="Rectangle 3">
            <a:extLst>
              <a:ext uri="{FF2B5EF4-FFF2-40B4-BE49-F238E27FC236}">
                <a16:creationId xmlns:a16="http://schemas.microsoft.com/office/drawing/2014/main" id="{0E80FBFE-EA31-443D-ACB8-24E6003894EA}"/>
              </a:ext>
            </a:extLst>
          </p:cNvPr>
          <p:cNvSpPr>
            <a:spLocks noGrp="1" noChangeArrowheads="1"/>
          </p:cNvSpPr>
          <p:nvPr>
            <p:ph idx="1"/>
          </p:nvPr>
        </p:nvSpPr>
        <p:spPr>
          <a:xfrm>
            <a:off x="4705594" y="1240077"/>
            <a:ext cx="6034827" cy="4916465"/>
          </a:xfrm>
        </p:spPr>
        <p:txBody>
          <a:bodyPr anchor="t">
            <a:normAutofit/>
          </a:bodyPr>
          <a:lstStyle/>
          <a:p>
            <a:r>
              <a:rPr lang="en-US" altLang="en-US" dirty="0"/>
              <a:t>Auditory training (AT) </a:t>
            </a:r>
            <a:r>
              <a:rPr lang="en-US" altLang="en-US" b="1" dirty="0"/>
              <a:t>is a process of teaching the child with HL to take full advantage of available auditory cues. </a:t>
            </a:r>
          </a:p>
          <a:p>
            <a:r>
              <a:rPr lang="en-US" altLang="en-US" dirty="0"/>
              <a:t>AT uses everyday activities to foster the development of listening skills.</a:t>
            </a:r>
          </a:p>
          <a:p>
            <a:r>
              <a:rPr lang="en-US" altLang="en-US" dirty="0"/>
              <a:t>Listening is a learned behavior and can be improved with practice!</a:t>
            </a:r>
          </a:p>
          <a:p>
            <a:r>
              <a:rPr lang="en-US" altLang="en-US" dirty="0"/>
              <a:t>The better a child’s parents/care providers understand her listening abilities, the more natural and spontaneous activities can become.</a:t>
            </a:r>
            <a:endParaRPr lang="en-US" altLang="en-US" i="1" dirty="0"/>
          </a:p>
        </p:txBody>
      </p:sp>
    </p:spTree>
    <p:extLst>
      <p:ext uri="{BB962C8B-B14F-4D97-AF65-F5344CB8AC3E}">
        <p14:creationId xmlns:p14="http://schemas.microsoft.com/office/powerpoint/2010/main" val="1072146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B7545E-1C8F-41DF-9CCD-F5FB06AC2F6A}"/>
              </a:ext>
            </a:extLst>
          </p:cNvPr>
          <p:cNvSpPr>
            <a:spLocks noGrp="1"/>
          </p:cNvSpPr>
          <p:nvPr>
            <p:ph type="title"/>
          </p:nvPr>
        </p:nvSpPr>
        <p:spPr>
          <a:xfrm>
            <a:off x="849683" y="1240076"/>
            <a:ext cx="2727813" cy="4584527"/>
          </a:xfrm>
        </p:spPr>
        <p:txBody>
          <a:bodyPr>
            <a:normAutofit/>
          </a:bodyPr>
          <a:lstStyle/>
          <a:p>
            <a:r>
              <a:rPr lang="en-US" dirty="0">
                <a:solidFill>
                  <a:srgbClr val="FFFFFF"/>
                </a:solidFill>
              </a:rPr>
              <a:t>Auditory training cont.</a:t>
            </a:r>
          </a:p>
        </p:txBody>
      </p:sp>
      <p:sp>
        <p:nvSpPr>
          <p:cNvPr id="4" name="Slide Number Placeholder 3">
            <a:extLst>
              <a:ext uri="{FF2B5EF4-FFF2-40B4-BE49-F238E27FC236}">
                <a16:creationId xmlns:a16="http://schemas.microsoft.com/office/drawing/2014/main" id="{43018591-79B1-4784-A803-A038038C1C18}"/>
              </a:ext>
            </a:extLst>
          </p:cNvPr>
          <p:cNvSpPr>
            <a:spLocks noGrp="1"/>
          </p:cNvSpPr>
          <p:nvPr>
            <p:ph type="sldNum" sz="quarter" idx="12"/>
          </p:nvPr>
        </p:nvSpPr>
        <p:spPr>
          <a:xfrm>
            <a:off x="10900921" y="232118"/>
            <a:ext cx="811019" cy="503578"/>
          </a:xfrm>
        </p:spPr>
        <p:txBody>
          <a:bodyPr>
            <a:normAutofit/>
          </a:bodyPr>
          <a:lstStyle/>
          <a:p>
            <a:pPr>
              <a:lnSpc>
                <a:spcPct val="90000"/>
              </a:lnSpc>
              <a:spcAft>
                <a:spcPts val="600"/>
              </a:spcAft>
            </a:pPr>
            <a:fld id="{C51C943E-796B-416B-8F40-6FB0B60CFA1E}" type="slidenum">
              <a:rPr lang="en-US" smtClean="0"/>
              <a:pPr>
                <a:lnSpc>
                  <a:spcPct val="90000"/>
                </a:lnSpc>
                <a:spcAft>
                  <a:spcPts val="600"/>
                </a:spcAft>
              </a:pPr>
              <a:t>3</a:t>
            </a:fld>
            <a:endParaRPr lang="en-US" dirty="0"/>
          </a:p>
        </p:txBody>
      </p:sp>
      <p:sp>
        <p:nvSpPr>
          <p:cNvPr id="3" name="Content Placeholder 2">
            <a:extLst>
              <a:ext uri="{FF2B5EF4-FFF2-40B4-BE49-F238E27FC236}">
                <a16:creationId xmlns:a16="http://schemas.microsoft.com/office/drawing/2014/main" id="{51CC760F-DB63-43F7-9C9D-43A82975B139}"/>
              </a:ext>
            </a:extLst>
          </p:cNvPr>
          <p:cNvSpPr>
            <a:spLocks noGrp="1"/>
          </p:cNvSpPr>
          <p:nvPr>
            <p:ph idx="1"/>
          </p:nvPr>
        </p:nvSpPr>
        <p:spPr>
          <a:xfrm>
            <a:off x="4705594" y="1240077"/>
            <a:ext cx="6034827" cy="4916465"/>
          </a:xfrm>
        </p:spPr>
        <p:txBody>
          <a:bodyPr anchor="t">
            <a:normAutofit/>
          </a:bodyPr>
          <a:lstStyle/>
          <a:p>
            <a:pPr marL="609600" indent="-609600" eaLnBrk="1" hangingPunct="1"/>
            <a:r>
              <a:rPr lang="en-US" altLang="en-US" dirty="0"/>
              <a:t>Utilizes </a:t>
            </a:r>
            <a:r>
              <a:rPr lang="en-US" altLang="en-US" b="1" dirty="0"/>
              <a:t>residual hearing</a:t>
            </a:r>
          </a:p>
          <a:p>
            <a:pPr marL="609600" indent="-609600" eaLnBrk="1" hangingPunct="1"/>
            <a:r>
              <a:rPr lang="en-US" altLang="en-US" dirty="0"/>
              <a:t>Emphasizing that the primary goal is training the mind to be aware of, attend to, and use </a:t>
            </a:r>
            <a:r>
              <a:rPr lang="en-US" altLang="en-US" b="1" dirty="0"/>
              <a:t>sound</a:t>
            </a:r>
            <a:r>
              <a:rPr lang="en-US" altLang="en-US" dirty="0"/>
              <a:t>. </a:t>
            </a:r>
            <a:endParaRPr lang="en-US" altLang="en-US" dirty="0">
              <a:latin typeface="Arial" panose="020B0604020202020204" pitchFamily="34" charset="0"/>
            </a:endParaRPr>
          </a:p>
          <a:p>
            <a:pPr marL="609600" indent="-609600" eaLnBrk="1" hangingPunct="1"/>
            <a:r>
              <a:rPr lang="en-US" altLang="en-US" dirty="0"/>
              <a:t>To help integrate </a:t>
            </a:r>
            <a:r>
              <a:rPr lang="en-US" altLang="en-US" b="1" dirty="0"/>
              <a:t>listening</a:t>
            </a:r>
            <a:r>
              <a:rPr lang="en-US" altLang="en-US" dirty="0"/>
              <a:t> into one’s development of communication and social skills</a:t>
            </a:r>
          </a:p>
          <a:p>
            <a:pPr marL="609600" indent="-609600" eaLnBrk="1" hangingPunct="1"/>
            <a:r>
              <a:rPr lang="en-US" altLang="en-US" dirty="0"/>
              <a:t>Key component of AR for CI recipients, those with </a:t>
            </a:r>
            <a:r>
              <a:rPr lang="en-US" altLang="en-US" b="1" dirty="0"/>
              <a:t>prelingual</a:t>
            </a:r>
            <a:r>
              <a:rPr lang="en-US" altLang="en-US" dirty="0"/>
              <a:t> HL, and those with severe to profound losses</a:t>
            </a:r>
          </a:p>
          <a:p>
            <a:endParaRPr lang="en-US" dirty="0"/>
          </a:p>
        </p:txBody>
      </p:sp>
    </p:spTree>
    <p:extLst>
      <p:ext uri="{BB962C8B-B14F-4D97-AF65-F5344CB8AC3E}">
        <p14:creationId xmlns:p14="http://schemas.microsoft.com/office/powerpoint/2010/main" val="1729860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2127"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30E3307-7C68-4DD2-81A0-CC978A2501CB}"/>
              </a:ext>
            </a:extLst>
          </p:cNvPr>
          <p:cNvSpPr>
            <a:spLocks noGrp="1"/>
          </p:cNvSpPr>
          <p:nvPr>
            <p:ph type="title"/>
          </p:nvPr>
        </p:nvSpPr>
        <p:spPr>
          <a:xfrm>
            <a:off x="849683" y="1240076"/>
            <a:ext cx="2727813" cy="4584527"/>
          </a:xfrm>
        </p:spPr>
        <p:txBody>
          <a:bodyPr>
            <a:normAutofit/>
          </a:bodyPr>
          <a:lstStyle/>
          <a:p>
            <a:r>
              <a:rPr lang="en-US" dirty="0">
                <a:solidFill>
                  <a:srgbClr val="FFFFFF"/>
                </a:solidFill>
              </a:rPr>
              <a:t>Learning to Listen</a:t>
            </a:r>
          </a:p>
        </p:txBody>
      </p:sp>
      <p:sp>
        <p:nvSpPr>
          <p:cNvPr id="4" name="Slide Number Placeholder 3">
            <a:extLst>
              <a:ext uri="{FF2B5EF4-FFF2-40B4-BE49-F238E27FC236}">
                <a16:creationId xmlns:a16="http://schemas.microsoft.com/office/drawing/2014/main" id="{20508549-CF48-4621-8617-320420D3AE96}"/>
              </a:ext>
            </a:extLst>
          </p:cNvPr>
          <p:cNvSpPr>
            <a:spLocks noGrp="1"/>
          </p:cNvSpPr>
          <p:nvPr>
            <p:ph type="sldNum" sz="quarter" idx="12"/>
          </p:nvPr>
        </p:nvSpPr>
        <p:spPr>
          <a:xfrm>
            <a:off x="10900921" y="232118"/>
            <a:ext cx="811019" cy="503578"/>
          </a:xfrm>
        </p:spPr>
        <p:txBody>
          <a:bodyPr>
            <a:normAutofit/>
          </a:bodyPr>
          <a:lstStyle/>
          <a:p>
            <a:pPr>
              <a:lnSpc>
                <a:spcPct val="90000"/>
              </a:lnSpc>
              <a:spcAft>
                <a:spcPts val="600"/>
              </a:spcAft>
            </a:pPr>
            <a:fld id="{C51C943E-796B-416B-8F40-6FB0B60CFA1E}" type="slidenum">
              <a:rPr lang="en-US" smtClean="0"/>
              <a:pPr>
                <a:lnSpc>
                  <a:spcPct val="90000"/>
                </a:lnSpc>
                <a:spcAft>
                  <a:spcPts val="600"/>
                </a:spcAft>
              </a:pPr>
              <a:t>4</a:t>
            </a:fld>
            <a:endParaRPr lang="en-US" dirty="0"/>
          </a:p>
        </p:txBody>
      </p:sp>
      <p:sp>
        <p:nvSpPr>
          <p:cNvPr id="3" name="Content Placeholder 2">
            <a:extLst>
              <a:ext uri="{FF2B5EF4-FFF2-40B4-BE49-F238E27FC236}">
                <a16:creationId xmlns:a16="http://schemas.microsoft.com/office/drawing/2014/main" id="{9E75E6F9-8DF1-4DE0-A59D-00DDA5F7F1AB}"/>
              </a:ext>
            </a:extLst>
          </p:cNvPr>
          <p:cNvSpPr>
            <a:spLocks noGrp="1"/>
          </p:cNvSpPr>
          <p:nvPr>
            <p:ph idx="1"/>
          </p:nvPr>
        </p:nvSpPr>
        <p:spPr>
          <a:xfrm>
            <a:off x="4705594" y="1240077"/>
            <a:ext cx="6034827" cy="4916465"/>
          </a:xfrm>
        </p:spPr>
        <p:txBody>
          <a:bodyPr anchor="t">
            <a:normAutofit/>
          </a:bodyPr>
          <a:lstStyle/>
          <a:p>
            <a:pPr eaLnBrk="1" hangingPunct="1"/>
            <a:r>
              <a:rPr lang="en-US" altLang="en-US" dirty="0"/>
              <a:t>A child </a:t>
            </a:r>
            <a:r>
              <a:rPr lang="en-US" altLang="en-US" b="1" u="sng" dirty="0"/>
              <a:t>must learn to listen </a:t>
            </a:r>
            <a:r>
              <a:rPr lang="en-US" altLang="en-US" dirty="0"/>
              <a:t>using their amplification devices (hearing aids, cochlear implants). </a:t>
            </a:r>
          </a:p>
          <a:p>
            <a:pPr eaLnBrk="1" hangingPunct="1"/>
            <a:r>
              <a:rPr lang="en-US" altLang="en-US" dirty="0"/>
              <a:t>Merely providing hearing instruments does not mean the sounds will automatically be </a:t>
            </a:r>
            <a:r>
              <a:rPr lang="en-US" altLang="en-US" b="1" dirty="0"/>
              <a:t>perceived</a:t>
            </a:r>
            <a:r>
              <a:rPr lang="en-US" altLang="en-US" dirty="0"/>
              <a:t> or </a:t>
            </a:r>
            <a:r>
              <a:rPr lang="en-US" altLang="en-US" b="1" dirty="0"/>
              <a:t>interpreted</a:t>
            </a:r>
            <a:r>
              <a:rPr lang="en-US" altLang="en-US" dirty="0"/>
              <a:t> by the child.</a:t>
            </a:r>
          </a:p>
          <a:p>
            <a:pPr eaLnBrk="1" hangingPunct="1"/>
            <a:r>
              <a:rPr lang="en-US" altLang="en-US" dirty="0"/>
              <a:t>By learning to detect and interpret the sounds, the child's capacity for spoken language is </a:t>
            </a:r>
            <a:r>
              <a:rPr lang="en-US" altLang="en-US" b="1" dirty="0"/>
              <a:t>maximized</a:t>
            </a:r>
            <a:r>
              <a:rPr lang="en-US" altLang="en-US" dirty="0"/>
              <a:t>.</a:t>
            </a:r>
          </a:p>
          <a:p>
            <a:endParaRPr lang="en-US" dirty="0"/>
          </a:p>
        </p:txBody>
      </p:sp>
    </p:spTree>
    <p:extLst>
      <p:ext uri="{BB962C8B-B14F-4D97-AF65-F5344CB8AC3E}">
        <p14:creationId xmlns:p14="http://schemas.microsoft.com/office/powerpoint/2010/main" val="2405224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Early-intervention program</a:t>
            </a:r>
          </a:p>
        </p:txBody>
      </p:sp>
      <p:sp>
        <p:nvSpPr>
          <p:cNvPr id="3" name="Content Placeholder 2"/>
          <p:cNvSpPr>
            <a:spLocks noGrp="1"/>
          </p:cNvSpPr>
          <p:nvPr>
            <p:ph sz="half" idx="1"/>
          </p:nvPr>
        </p:nvSpPr>
        <p:spPr>
          <a:xfrm>
            <a:off x="1449217" y="1908310"/>
            <a:ext cx="5282332" cy="4201386"/>
          </a:xfrm>
        </p:spPr>
        <p:txBody>
          <a:bodyPr>
            <a:normAutofit fontScale="92500" lnSpcReduction="10000"/>
          </a:bodyPr>
          <a:lstStyle/>
          <a:p>
            <a:r>
              <a:rPr lang="en-US" dirty="0"/>
              <a:t>Ideally begins as soon as the permanent hearing loss is </a:t>
            </a:r>
            <a:r>
              <a:rPr lang="en-US" b="1" dirty="0"/>
              <a:t>confirmed</a:t>
            </a:r>
            <a:r>
              <a:rPr lang="en-US" dirty="0"/>
              <a:t>.</a:t>
            </a:r>
          </a:p>
          <a:p>
            <a:r>
              <a:rPr lang="en-US" dirty="0"/>
              <a:t>Families may receive a list of all of the available programs in the geographic area and/or be referred to a nation-wide early-intervention system</a:t>
            </a:r>
          </a:p>
          <a:p>
            <a:r>
              <a:rPr lang="en-US" dirty="0"/>
              <a:t>Types of Programs</a:t>
            </a:r>
          </a:p>
          <a:p>
            <a:pPr lvl="1"/>
            <a:r>
              <a:rPr lang="en-US" b="1" dirty="0"/>
              <a:t>Center-Based Program</a:t>
            </a:r>
            <a:r>
              <a:rPr lang="en-US" dirty="0"/>
              <a:t>: children attend weekly therapy for a set number of hours</a:t>
            </a:r>
          </a:p>
          <a:p>
            <a:pPr lvl="1"/>
            <a:r>
              <a:rPr lang="en-US" b="1" dirty="0"/>
              <a:t>Home-Based Program</a:t>
            </a:r>
            <a:r>
              <a:rPr lang="en-US" dirty="0"/>
              <a:t>: early-intervention specialist visits the infant’s home and provides instruction to the parents and child</a:t>
            </a:r>
          </a:p>
          <a:p>
            <a:endParaRPr lang="en-US" dirty="0"/>
          </a:p>
          <a:p>
            <a:endParaRPr lang="en-US" dirty="0"/>
          </a:p>
        </p:txBody>
      </p:sp>
      <p:pic>
        <p:nvPicPr>
          <p:cNvPr id="5" name="Content Placeholder 4"/>
          <p:cNvPicPr>
            <a:picLocks noGrp="1" noChangeAspect="1"/>
          </p:cNvPicPr>
          <p:nvPr>
            <p:ph sz="half" idx="2"/>
          </p:nvPr>
        </p:nvPicPr>
        <p:blipFill>
          <a:blip r:embed="rId2"/>
          <a:stretch>
            <a:fillRect/>
          </a:stretch>
        </p:blipFill>
        <p:spPr>
          <a:xfrm>
            <a:off x="7168652" y="2367506"/>
            <a:ext cx="3886200" cy="2914650"/>
          </a:xfrm>
          <a:prstGeom prst="rect">
            <a:avLst/>
          </a:prstGeom>
        </p:spPr>
      </p:pic>
      <p:sp>
        <p:nvSpPr>
          <p:cNvPr id="4" name="Slide Number Placeholder 3">
            <a:extLst>
              <a:ext uri="{FF2B5EF4-FFF2-40B4-BE49-F238E27FC236}">
                <a16:creationId xmlns:a16="http://schemas.microsoft.com/office/drawing/2014/main" id="{2D33BAD9-61B4-451F-8153-1129C82E1656}"/>
              </a:ext>
            </a:extLst>
          </p:cNvPr>
          <p:cNvSpPr>
            <a:spLocks noGrp="1"/>
          </p:cNvSpPr>
          <p:nvPr>
            <p:ph type="sldNum" sz="quarter" idx="12"/>
          </p:nvPr>
        </p:nvSpPr>
        <p:spPr/>
        <p:txBody>
          <a:bodyPr/>
          <a:lstStyle/>
          <a:p>
            <a:fld id="{C51C943E-796B-416B-8F40-6FB0B60CFA1E}" type="slidenum">
              <a:rPr lang="en-US" smtClean="0"/>
              <a:t>5</a:t>
            </a:fld>
            <a:endParaRPr lang="en-US" dirty="0"/>
          </a:p>
        </p:txBody>
      </p:sp>
    </p:spTree>
    <p:extLst>
      <p:ext uri="{BB962C8B-B14F-4D97-AF65-F5344CB8AC3E}">
        <p14:creationId xmlns:p14="http://schemas.microsoft.com/office/powerpoint/2010/main" val="1924229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F33C4-2059-4426-BE42-262E55CE168B}"/>
              </a:ext>
            </a:extLst>
          </p:cNvPr>
          <p:cNvSpPr>
            <a:spLocks noGrp="1"/>
          </p:cNvSpPr>
          <p:nvPr>
            <p:ph type="title"/>
          </p:nvPr>
        </p:nvSpPr>
        <p:spPr/>
        <p:txBody>
          <a:bodyPr/>
          <a:lstStyle/>
          <a:p>
            <a:pPr>
              <a:defRPr/>
            </a:pPr>
            <a:r>
              <a:rPr lang="en-US" dirty="0"/>
              <a:t>Assessment of Auditory skills</a:t>
            </a:r>
          </a:p>
        </p:txBody>
      </p:sp>
      <p:sp>
        <p:nvSpPr>
          <p:cNvPr id="3" name="Content Placeholder 2">
            <a:extLst>
              <a:ext uri="{FF2B5EF4-FFF2-40B4-BE49-F238E27FC236}">
                <a16:creationId xmlns:a16="http://schemas.microsoft.com/office/drawing/2014/main" id="{FA0F5262-FA91-4AA0-A85C-17600FCE57DF}"/>
              </a:ext>
            </a:extLst>
          </p:cNvPr>
          <p:cNvSpPr>
            <a:spLocks noGrp="1"/>
          </p:cNvSpPr>
          <p:nvPr>
            <p:ph idx="1"/>
          </p:nvPr>
        </p:nvSpPr>
        <p:spPr>
          <a:xfrm>
            <a:off x="1828800" y="2016125"/>
            <a:ext cx="8458200" cy="3449638"/>
          </a:xfrm>
        </p:spPr>
        <p:txBody>
          <a:bodyPr>
            <a:normAutofit lnSpcReduction="10000"/>
          </a:bodyPr>
          <a:lstStyle/>
          <a:p>
            <a:pPr eaLnBrk="1" hangingPunct="1"/>
            <a:r>
              <a:rPr lang="en-US" altLang="en-US" sz="3600" dirty="0"/>
              <a:t>Determine if training is </a:t>
            </a:r>
            <a:r>
              <a:rPr lang="en-US" altLang="en-US" sz="3600" b="1" dirty="0"/>
              <a:t>warranted</a:t>
            </a:r>
          </a:p>
          <a:p>
            <a:pPr eaLnBrk="1" hangingPunct="1"/>
            <a:r>
              <a:rPr lang="en-US" altLang="en-US" sz="3600" dirty="0"/>
              <a:t>Provide a basis for </a:t>
            </a:r>
            <a:r>
              <a:rPr lang="en-US" altLang="en-US" sz="3600" b="1" dirty="0"/>
              <a:t>post-therapy assessment</a:t>
            </a:r>
          </a:p>
          <a:p>
            <a:pPr eaLnBrk="1" hangingPunct="1"/>
            <a:r>
              <a:rPr lang="en-US" altLang="en-US" sz="3600" dirty="0"/>
              <a:t>Identify specific areas of auditory training to concentrate on. </a:t>
            </a:r>
          </a:p>
          <a:p>
            <a:pPr eaLnBrk="1" hangingPunct="1"/>
            <a:endParaRPr lang="en-US" altLang="en-US" dirty="0"/>
          </a:p>
        </p:txBody>
      </p:sp>
      <p:sp>
        <p:nvSpPr>
          <p:cNvPr id="4" name="Slide Number Placeholder 3">
            <a:extLst>
              <a:ext uri="{FF2B5EF4-FFF2-40B4-BE49-F238E27FC236}">
                <a16:creationId xmlns:a16="http://schemas.microsoft.com/office/drawing/2014/main" id="{45D2AE13-381E-4868-9404-8A9BE0E787BB}"/>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E1E8F8BD-4D95-477F-A888-38F8A8854BC7}" type="slidenum">
              <a:rPr lang="en-US" altLang="en-US">
                <a:solidFill>
                  <a:schemeClr val="accent1"/>
                </a:solidFill>
              </a:rPr>
              <a:pPr/>
              <a:t>6</a:t>
            </a:fld>
            <a:endParaRPr lang="en-US" altLang="en-US"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303E1-4108-4CB1-9E48-B469449CDE1B}"/>
              </a:ext>
            </a:extLst>
          </p:cNvPr>
          <p:cNvSpPr>
            <a:spLocks noGrp="1"/>
          </p:cNvSpPr>
          <p:nvPr>
            <p:ph type="title"/>
          </p:nvPr>
        </p:nvSpPr>
        <p:spPr/>
        <p:txBody>
          <a:bodyPr/>
          <a:lstStyle/>
          <a:p>
            <a:pPr>
              <a:defRPr/>
            </a:pPr>
            <a:r>
              <a:rPr lang="en-US" dirty="0"/>
              <a:t>Nature of testing depends on:</a:t>
            </a:r>
          </a:p>
        </p:txBody>
      </p:sp>
      <p:sp>
        <p:nvSpPr>
          <p:cNvPr id="3" name="Content Placeholder 2">
            <a:extLst>
              <a:ext uri="{FF2B5EF4-FFF2-40B4-BE49-F238E27FC236}">
                <a16:creationId xmlns:a16="http://schemas.microsoft.com/office/drawing/2014/main" id="{14FAE8C5-FBE5-4136-88FB-93217AAFF94C}"/>
              </a:ext>
            </a:extLst>
          </p:cNvPr>
          <p:cNvSpPr>
            <a:spLocks noGrp="1"/>
          </p:cNvSpPr>
          <p:nvPr>
            <p:ph idx="1"/>
          </p:nvPr>
        </p:nvSpPr>
        <p:spPr/>
        <p:txBody>
          <a:bodyPr/>
          <a:lstStyle/>
          <a:p>
            <a:r>
              <a:rPr lang="en-US" altLang="en-US" sz="3600" b="1" dirty="0"/>
              <a:t>Age</a:t>
            </a:r>
            <a:r>
              <a:rPr lang="en-US" altLang="en-US" sz="3600" dirty="0"/>
              <a:t> of child</a:t>
            </a:r>
          </a:p>
          <a:p>
            <a:pPr marL="0" marR="0">
              <a:lnSpc>
                <a:spcPct val="107000"/>
              </a:lnSpc>
              <a:spcBef>
                <a:spcPts val="0"/>
              </a:spcBef>
              <a:spcAft>
                <a:spcPts val="0"/>
              </a:spcAft>
            </a:pPr>
            <a:r>
              <a:rPr lang="en-US" altLang="en-US" sz="3600" dirty="0"/>
              <a:t>His or her </a:t>
            </a:r>
            <a:r>
              <a:rPr lang="en-US" altLang="en-US" sz="3600" b="1" dirty="0"/>
              <a:t>Language skills </a:t>
            </a:r>
          </a:p>
          <a:p>
            <a:r>
              <a:rPr lang="en-US" altLang="en-US" sz="3600" dirty="0"/>
              <a:t>Type and </a:t>
            </a:r>
            <a:r>
              <a:rPr lang="en-US" altLang="en-US" sz="3600" b="1" dirty="0"/>
              <a:t>degree</a:t>
            </a:r>
            <a:r>
              <a:rPr lang="en-US" altLang="en-US" sz="3600" dirty="0"/>
              <a:t> of hearing loss</a:t>
            </a:r>
          </a:p>
        </p:txBody>
      </p:sp>
      <p:sp>
        <p:nvSpPr>
          <p:cNvPr id="4" name="Slide Number Placeholder 3">
            <a:extLst>
              <a:ext uri="{FF2B5EF4-FFF2-40B4-BE49-F238E27FC236}">
                <a16:creationId xmlns:a16="http://schemas.microsoft.com/office/drawing/2014/main" id="{A9E90EC4-5064-405B-9DA9-E6F0AC8F4F21}"/>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CF7F15CB-0200-4C1F-921F-C25E050069C4}" type="slidenum">
              <a:rPr lang="en-US" altLang="en-US">
                <a:solidFill>
                  <a:schemeClr val="accent1"/>
                </a:solidFill>
              </a:rPr>
              <a:pPr/>
              <a:t>7</a:t>
            </a:fld>
            <a:endParaRPr lang="en-US" altLang="en-US"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25A8F-E9A7-4A85-873E-2F00601C8CAA}"/>
              </a:ext>
            </a:extLst>
          </p:cNvPr>
          <p:cNvSpPr>
            <a:spLocks noGrp="1"/>
          </p:cNvSpPr>
          <p:nvPr>
            <p:ph type="title"/>
          </p:nvPr>
        </p:nvSpPr>
        <p:spPr/>
        <p:txBody>
          <a:bodyPr/>
          <a:lstStyle/>
          <a:p>
            <a:r>
              <a:rPr lang="en-US" dirty="0"/>
              <a:t>Assessing young children</a:t>
            </a:r>
          </a:p>
        </p:txBody>
      </p:sp>
      <p:sp>
        <p:nvSpPr>
          <p:cNvPr id="3" name="Content Placeholder 2">
            <a:extLst>
              <a:ext uri="{FF2B5EF4-FFF2-40B4-BE49-F238E27FC236}">
                <a16:creationId xmlns:a16="http://schemas.microsoft.com/office/drawing/2014/main" id="{16F59F56-4FAC-42A7-8AAA-EEBF8953CEFA}"/>
              </a:ext>
            </a:extLst>
          </p:cNvPr>
          <p:cNvSpPr>
            <a:spLocks noGrp="1"/>
          </p:cNvSpPr>
          <p:nvPr>
            <p:ph idx="1"/>
          </p:nvPr>
        </p:nvSpPr>
        <p:spPr/>
        <p:txBody>
          <a:bodyPr>
            <a:normAutofit/>
          </a:bodyPr>
          <a:lstStyle/>
          <a:p>
            <a:r>
              <a:rPr lang="en-US" dirty="0"/>
              <a:t>Both amount and difficulty of testing appropriate for young children are limited by their physical and cognitive development</a:t>
            </a:r>
          </a:p>
          <a:p>
            <a:r>
              <a:rPr lang="en-US" b="1" dirty="0"/>
              <a:t>Informal testing and observations </a:t>
            </a:r>
            <a:r>
              <a:rPr lang="en-US" dirty="0"/>
              <a:t>are relied on heavily for this age group</a:t>
            </a:r>
          </a:p>
          <a:p>
            <a:r>
              <a:rPr lang="en-US" dirty="0"/>
              <a:t>Initial goal for auditory training of infant may not center on </a:t>
            </a:r>
            <a:r>
              <a:rPr lang="en-US" b="1" dirty="0"/>
              <a:t>speech perception</a:t>
            </a:r>
            <a:r>
              <a:rPr lang="en-US" dirty="0"/>
              <a:t>. Rather the focus is on if </a:t>
            </a:r>
            <a:r>
              <a:rPr lang="en-US" b="1" dirty="0"/>
              <a:t>hearing</a:t>
            </a:r>
            <a:r>
              <a:rPr lang="en-US" dirty="0"/>
              <a:t> is working appropriately as well as identifying if </a:t>
            </a:r>
            <a:r>
              <a:rPr lang="en-US" b="1" dirty="0"/>
              <a:t>auditory </a:t>
            </a:r>
            <a:r>
              <a:rPr lang="en-US" b="1"/>
              <a:t>skills </a:t>
            </a:r>
            <a:r>
              <a:rPr lang="en-US"/>
              <a:t>have </a:t>
            </a:r>
            <a:r>
              <a:rPr lang="en-US" dirty="0"/>
              <a:t>emerged (gross discrimination and localization of a variety of stimuli)</a:t>
            </a:r>
          </a:p>
          <a:p>
            <a:r>
              <a:rPr lang="en-US" dirty="0"/>
              <a:t>Parent questionnaires (ex IT-MAIS, PEACH, FAPI) help provide framework for how hearing technology is working and whether programming changes are needed </a:t>
            </a:r>
          </a:p>
        </p:txBody>
      </p:sp>
      <p:sp>
        <p:nvSpPr>
          <p:cNvPr id="4" name="Slide Number Placeholder 3">
            <a:extLst>
              <a:ext uri="{FF2B5EF4-FFF2-40B4-BE49-F238E27FC236}">
                <a16:creationId xmlns:a16="http://schemas.microsoft.com/office/drawing/2014/main" id="{6BD484CE-8038-4D55-A16F-8CAF67CF3FD1}"/>
              </a:ext>
            </a:extLst>
          </p:cNvPr>
          <p:cNvSpPr>
            <a:spLocks noGrp="1"/>
          </p:cNvSpPr>
          <p:nvPr>
            <p:ph type="sldNum" sz="quarter" idx="12"/>
          </p:nvPr>
        </p:nvSpPr>
        <p:spPr/>
        <p:txBody>
          <a:bodyPr/>
          <a:lstStyle/>
          <a:p>
            <a:fld id="{C51C943E-796B-416B-8F40-6FB0B60CFA1E}" type="slidenum">
              <a:rPr lang="en-US" smtClean="0"/>
              <a:t>8</a:t>
            </a:fld>
            <a:endParaRPr lang="en-US" dirty="0"/>
          </a:p>
        </p:txBody>
      </p:sp>
    </p:spTree>
    <p:extLst>
      <p:ext uri="{BB962C8B-B14F-4D97-AF65-F5344CB8AC3E}">
        <p14:creationId xmlns:p14="http://schemas.microsoft.com/office/powerpoint/2010/main" val="411622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407D7-6DE7-48CD-BBB0-CE3CA8795C68}"/>
              </a:ext>
            </a:extLst>
          </p:cNvPr>
          <p:cNvSpPr>
            <a:spLocks noGrp="1"/>
          </p:cNvSpPr>
          <p:nvPr>
            <p:ph type="title"/>
          </p:nvPr>
        </p:nvSpPr>
        <p:spPr/>
        <p:txBody>
          <a:bodyPr>
            <a:normAutofit fontScale="90000"/>
          </a:bodyPr>
          <a:lstStyle/>
          <a:p>
            <a:pPr eaLnBrk="1" hangingPunct="1">
              <a:defRPr/>
            </a:pPr>
            <a:r>
              <a:rPr lang="en-US" dirty="0"/>
              <a:t>FAPI</a:t>
            </a:r>
            <a:br>
              <a:rPr lang="en-US" dirty="0"/>
            </a:br>
            <a:r>
              <a:rPr lang="en-US" sz="1800" dirty="0"/>
              <a:t>Document on Moodle</a:t>
            </a:r>
            <a:br>
              <a:rPr lang="en-US" dirty="0"/>
            </a:br>
            <a:endParaRPr lang="en-US" dirty="0"/>
          </a:p>
        </p:txBody>
      </p:sp>
      <p:sp>
        <p:nvSpPr>
          <p:cNvPr id="36867" name="Subtitle 4">
            <a:extLst>
              <a:ext uri="{FF2B5EF4-FFF2-40B4-BE49-F238E27FC236}">
                <a16:creationId xmlns:a16="http://schemas.microsoft.com/office/drawing/2014/main" id="{FA6F0812-3479-46FD-8AF3-4AF73CB7546F}"/>
              </a:ext>
            </a:extLst>
          </p:cNvPr>
          <p:cNvSpPr>
            <a:spLocks noGrp="1"/>
          </p:cNvSpPr>
          <p:nvPr>
            <p:ph idx="1"/>
          </p:nvPr>
        </p:nvSpPr>
        <p:spPr/>
        <p:txBody>
          <a:bodyPr/>
          <a:lstStyle/>
          <a:p>
            <a:pPr eaLnBrk="1" hangingPunct="1"/>
            <a:r>
              <a:rPr lang="en-US" altLang="en-US" sz="2400" dirty="0"/>
              <a:t>The Functional Auditory Performance Indicators (FÁPI) assesses the functional auditory skills of children with hearing loss. It can be used by parents, therapists, early interventionists, and teachers. The profile lists auditory skills in an integrated hierarchical order in 7 categories.</a:t>
            </a:r>
          </a:p>
          <a:p>
            <a:pPr eaLnBrk="1" hangingPunct="1"/>
            <a:endParaRPr lang="en-US" altLang="en-US" dirty="0"/>
          </a:p>
        </p:txBody>
      </p:sp>
      <p:sp>
        <p:nvSpPr>
          <p:cNvPr id="2" name="Slide Number Placeholder 1">
            <a:extLst>
              <a:ext uri="{FF2B5EF4-FFF2-40B4-BE49-F238E27FC236}">
                <a16:creationId xmlns:a16="http://schemas.microsoft.com/office/drawing/2014/main" id="{27DB8281-8DFE-4A03-B602-1AD3D844BB4A}"/>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B4472A70-E9B3-4A52-AFDC-67BA4AEB19F4}" type="slidenum">
              <a:rPr lang="en-US" altLang="en-US">
                <a:solidFill>
                  <a:schemeClr val="accent1"/>
                </a:solidFill>
              </a:rPr>
              <a:pPr/>
              <a:t>9</a:t>
            </a:fld>
            <a:endParaRPr lang="en-US" altLang="en-US" dirty="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1DB2-0901-4319-86AB-C5A566E09685}"/>
              </a:ext>
            </a:extLst>
          </p:cNvPr>
          <p:cNvSpPr>
            <a:spLocks noGrp="1"/>
          </p:cNvSpPr>
          <p:nvPr>
            <p:ph type="title"/>
          </p:nvPr>
        </p:nvSpPr>
        <p:spPr>
          <a:xfrm>
            <a:off x="1404594" y="838199"/>
            <a:ext cx="10071753" cy="841378"/>
          </a:xfrm>
        </p:spPr>
        <p:txBody>
          <a:bodyPr/>
          <a:lstStyle/>
          <a:p>
            <a:pPr>
              <a:defRPr/>
            </a:pPr>
            <a:r>
              <a:rPr lang="en-US" dirty="0"/>
              <a:t>Formal assessments for children:</a:t>
            </a:r>
          </a:p>
        </p:txBody>
      </p:sp>
      <p:sp>
        <p:nvSpPr>
          <p:cNvPr id="3" name="Content Placeholder 2">
            <a:extLst>
              <a:ext uri="{FF2B5EF4-FFF2-40B4-BE49-F238E27FC236}">
                <a16:creationId xmlns:a16="http://schemas.microsoft.com/office/drawing/2014/main" id="{6D2591B2-21BB-4F78-9701-F8D14534C590}"/>
              </a:ext>
            </a:extLst>
          </p:cNvPr>
          <p:cNvSpPr>
            <a:spLocks noGrp="1"/>
          </p:cNvSpPr>
          <p:nvPr>
            <p:ph idx="1"/>
          </p:nvPr>
        </p:nvSpPr>
        <p:spPr>
          <a:xfrm>
            <a:off x="1676400" y="2016126"/>
            <a:ext cx="8534400" cy="4003675"/>
          </a:xfrm>
        </p:spPr>
        <p:txBody>
          <a:bodyPr/>
          <a:lstStyle/>
          <a:p>
            <a:pPr eaLnBrk="1" hangingPunct="1"/>
            <a:r>
              <a:rPr lang="en-US" altLang="en-US" dirty="0"/>
              <a:t>*WIPI</a:t>
            </a:r>
          </a:p>
          <a:p>
            <a:pPr eaLnBrk="1" hangingPunct="1"/>
            <a:r>
              <a:rPr lang="en-US" altLang="en-US" dirty="0"/>
              <a:t>*</a:t>
            </a:r>
            <a:r>
              <a:rPr lang="en-US" altLang="en-US" b="1" dirty="0"/>
              <a:t>NU-CHIPS</a:t>
            </a:r>
          </a:p>
          <a:p>
            <a:pPr eaLnBrk="1" hangingPunct="1"/>
            <a:r>
              <a:rPr lang="en-US" altLang="en-US"/>
              <a:t>Ling 10 </a:t>
            </a:r>
            <a:r>
              <a:rPr lang="en-US" altLang="en-US" dirty="0"/>
              <a:t>Sound Test</a:t>
            </a:r>
          </a:p>
          <a:p>
            <a:pPr eaLnBrk="1" hangingPunct="1"/>
            <a:r>
              <a:rPr lang="en-US" altLang="en-US" b="1" dirty="0"/>
              <a:t>Early Speech Perception Test (ESP)</a:t>
            </a:r>
          </a:p>
          <a:p>
            <a:pPr eaLnBrk="1" hangingPunct="1"/>
            <a:r>
              <a:rPr lang="en-US" altLang="en-US" dirty="0"/>
              <a:t>Glendonald Auditory Screen Procedure (GASP)</a:t>
            </a:r>
          </a:p>
          <a:p>
            <a:pPr eaLnBrk="1" hangingPunct="1"/>
            <a:r>
              <a:rPr lang="en-US" altLang="en-US" dirty="0"/>
              <a:t>Developmental Approach to Successful Listening (DASL)</a:t>
            </a:r>
          </a:p>
          <a:p>
            <a:pPr eaLnBrk="1" hangingPunct="1"/>
            <a:endParaRPr lang="en-US" altLang="en-US" dirty="0"/>
          </a:p>
          <a:p>
            <a:pPr marL="0" indent="0" eaLnBrk="1" hangingPunct="1">
              <a:buNone/>
            </a:pPr>
            <a:r>
              <a:rPr lang="en-US" altLang="en-US" i="1" dirty="0"/>
              <a:t>*Additional word recognition assessment information available on MOODLE</a:t>
            </a:r>
          </a:p>
        </p:txBody>
      </p:sp>
      <p:sp>
        <p:nvSpPr>
          <p:cNvPr id="4" name="Slide Number Placeholder 3">
            <a:extLst>
              <a:ext uri="{FF2B5EF4-FFF2-40B4-BE49-F238E27FC236}">
                <a16:creationId xmlns:a16="http://schemas.microsoft.com/office/drawing/2014/main" id="{2718BF1C-17E1-41C2-9AD8-7778C215BA9B}"/>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D96DFBFC-5F2D-433D-B240-656E30FB9151}" type="slidenum">
              <a:rPr lang="en-US" altLang="en-US">
                <a:solidFill>
                  <a:schemeClr val="accent1"/>
                </a:solidFill>
              </a:rPr>
              <a:pPr/>
              <a:t>10</a:t>
            </a:fld>
            <a:endParaRPr lang="en-US" altLang="en-US"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1E3DC-0127-4742-91A6-5FCDA6E3AB06}"/>
              </a:ext>
            </a:extLst>
          </p:cNvPr>
          <p:cNvSpPr>
            <a:spLocks noGrp="1"/>
          </p:cNvSpPr>
          <p:nvPr>
            <p:ph type="title"/>
          </p:nvPr>
        </p:nvSpPr>
        <p:spPr/>
        <p:txBody>
          <a:bodyPr/>
          <a:lstStyle/>
          <a:p>
            <a:r>
              <a:rPr lang="en-US" dirty="0"/>
              <a:t>WIPI</a:t>
            </a:r>
          </a:p>
        </p:txBody>
      </p:sp>
      <p:sp>
        <p:nvSpPr>
          <p:cNvPr id="3" name="Content Placeholder 2">
            <a:extLst>
              <a:ext uri="{FF2B5EF4-FFF2-40B4-BE49-F238E27FC236}">
                <a16:creationId xmlns:a16="http://schemas.microsoft.com/office/drawing/2014/main" id="{94E64D78-DC0A-4E16-BE15-5B6DAF513727}"/>
              </a:ext>
            </a:extLst>
          </p:cNvPr>
          <p:cNvSpPr>
            <a:spLocks noGrp="1"/>
          </p:cNvSpPr>
          <p:nvPr>
            <p:ph idx="1"/>
          </p:nvPr>
        </p:nvSpPr>
        <p:spPr/>
        <p:txBody>
          <a:bodyPr/>
          <a:lstStyle/>
          <a:p>
            <a:r>
              <a:rPr lang="en-US" dirty="0"/>
              <a:t>Word Intelligibility by Picture Identification</a:t>
            </a:r>
          </a:p>
          <a:p>
            <a:r>
              <a:rPr lang="en-US" dirty="0"/>
              <a:t>Includes only vocabulary appropriate for children with </a:t>
            </a:r>
            <a:r>
              <a:rPr lang="en-US" b="1" dirty="0"/>
              <a:t>hearing loss</a:t>
            </a:r>
          </a:p>
          <a:p>
            <a:r>
              <a:rPr lang="en-US" b="1" dirty="0"/>
              <a:t>4</a:t>
            </a:r>
            <a:r>
              <a:rPr lang="en-US" dirty="0"/>
              <a:t> lists, </a:t>
            </a:r>
            <a:r>
              <a:rPr lang="en-US" b="1" dirty="0"/>
              <a:t>25</a:t>
            </a:r>
            <a:r>
              <a:rPr lang="en-US" dirty="0"/>
              <a:t> monosyllabic words each</a:t>
            </a:r>
          </a:p>
          <a:p>
            <a:r>
              <a:rPr lang="en-US" dirty="0"/>
              <a:t>Child provides picture pointing response in a closed set format</a:t>
            </a:r>
          </a:p>
          <a:p>
            <a:r>
              <a:rPr lang="en-US" dirty="0"/>
              <a:t>Suitable for use with children with hearing loss and limited </a:t>
            </a:r>
            <a:r>
              <a:rPr lang="en-US" b="1" dirty="0"/>
              <a:t>receptive and expressive</a:t>
            </a:r>
            <a:r>
              <a:rPr lang="en-US" dirty="0"/>
              <a:t> language abilities</a:t>
            </a:r>
          </a:p>
          <a:p>
            <a:pPr marL="0" indent="0">
              <a:buNone/>
            </a:pPr>
            <a:endParaRPr lang="en-US" dirty="0"/>
          </a:p>
        </p:txBody>
      </p:sp>
      <p:sp>
        <p:nvSpPr>
          <p:cNvPr id="4" name="Slide Number Placeholder 3">
            <a:extLst>
              <a:ext uri="{FF2B5EF4-FFF2-40B4-BE49-F238E27FC236}">
                <a16:creationId xmlns:a16="http://schemas.microsoft.com/office/drawing/2014/main" id="{F6F169C8-EE61-443D-8F53-81CD2A7C5F23}"/>
              </a:ext>
            </a:extLst>
          </p:cNvPr>
          <p:cNvSpPr>
            <a:spLocks noGrp="1"/>
          </p:cNvSpPr>
          <p:nvPr>
            <p:ph type="sldNum" sz="quarter" idx="12"/>
          </p:nvPr>
        </p:nvSpPr>
        <p:spPr/>
        <p:txBody>
          <a:bodyPr/>
          <a:lstStyle/>
          <a:p>
            <a:fld id="{C51C943E-796B-416B-8F40-6FB0B60CFA1E}" type="slidenum">
              <a:rPr lang="en-US" smtClean="0"/>
              <a:t>11</a:t>
            </a:fld>
            <a:endParaRPr lang="en-US" dirty="0"/>
          </a:p>
        </p:txBody>
      </p:sp>
    </p:spTree>
    <p:extLst>
      <p:ext uri="{BB962C8B-B14F-4D97-AF65-F5344CB8AC3E}">
        <p14:creationId xmlns:p14="http://schemas.microsoft.com/office/powerpoint/2010/main" val="1077718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B7D38-46E9-4B6A-A445-26C14DA7AD46}"/>
              </a:ext>
            </a:extLst>
          </p:cNvPr>
          <p:cNvSpPr>
            <a:spLocks noGrp="1"/>
          </p:cNvSpPr>
          <p:nvPr>
            <p:ph type="title"/>
          </p:nvPr>
        </p:nvSpPr>
        <p:spPr/>
        <p:txBody>
          <a:bodyPr/>
          <a:lstStyle/>
          <a:p>
            <a:r>
              <a:rPr lang="en-US" dirty="0"/>
              <a:t>Nu-CHIPS</a:t>
            </a:r>
          </a:p>
        </p:txBody>
      </p:sp>
      <p:sp>
        <p:nvSpPr>
          <p:cNvPr id="3" name="Content Placeholder 2">
            <a:extLst>
              <a:ext uri="{FF2B5EF4-FFF2-40B4-BE49-F238E27FC236}">
                <a16:creationId xmlns:a16="http://schemas.microsoft.com/office/drawing/2014/main" id="{08CA4E02-0979-43E3-842F-3C22CAF7A3F0}"/>
              </a:ext>
            </a:extLst>
          </p:cNvPr>
          <p:cNvSpPr>
            <a:spLocks noGrp="1"/>
          </p:cNvSpPr>
          <p:nvPr>
            <p:ph idx="1"/>
          </p:nvPr>
        </p:nvSpPr>
        <p:spPr/>
        <p:txBody>
          <a:bodyPr/>
          <a:lstStyle/>
          <a:p>
            <a:r>
              <a:rPr lang="en-US" dirty="0"/>
              <a:t>Northwestern University Children’s Perception of Speech</a:t>
            </a:r>
          </a:p>
          <a:p>
            <a:r>
              <a:rPr lang="en-US" dirty="0"/>
              <a:t>50 monosyllabic nouns scrambled to form four individual tests</a:t>
            </a:r>
          </a:p>
          <a:p>
            <a:r>
              <a:rPr lang="en-US" dirty="0"/>
              <a:t>Response format requires child to point to the one picture from several options that best represent the test item</a:t>
            </a:r>
          </a:p>
          <a:p>
            <a:r>
              <a:rPr lang="en-US" b="1" dirty="0"/>
              <a:t>Basic vocabulary; nonverbal response format</a:t>
            </a:r>
          </a:p>
          <a:p>
            <a:endParaRPr lang="en-US" dirty="0"/>
          </a:p>
          <a:p>
            <a:endParaRPr lang="en-US" dirty="0"/>
          </a:p>
        </p:txBody>
      </p:sp>
      <p:sp>
        <p:nvSpPr>
          <p:cNvPr id="4" name="Slide Number Placeholder 3">
            <a:extLst>
              <a:ext uri="{FF2B5EF4-FFF2-40B4-BE49-F238E27FC236}">
                <a16:creationId xmlns:a16="http://schemas.microsoft.com/office/drawing/2014/main" id="{3AB098A7-D6C0-4F18-9500-814C1016F17F}"/>
              </a:ext>
            </a:extLst>
          </p:cNvPr>
          <p:cNvSpPr>
            <a:spLocks noGrp="1"/>
          </p:cNvSpPr>
          <p:nvPr>
            <p:ph type="sldNum" sz="quarter" idx="12"/>
          </p:nvPr>
        </p:nvSpPr>
        <p:spPr/>
        <p:txBody>
          <a:bodyPr/>
          <a:lstStyle/>
          <a:p>
            <a:fld id="{C51C943E-796B-416B-8F40-6FB0B60CFA1E}" type="slidenum">
              <a:rPr lang="en-US" smtClean="0"/>
              <a:t>12</a:t>
            </a:fld>
            <a:endParaRPr lang="en-US" dirty="0"/>
          </a:p>
        </p:txBody>
      </p:sp>
    </p:spTree>
    <p:extLst>
      <p:ext uri="{BB962C8B-B14F-4D97-AF65-F5344CB8AC3E}">
        <p14:creationId xmlns:p14="http://schemas.microsoft.com/office/powerpoint/2010/main" val="2989538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DA10D-EFAC-49D7-87B0-4437CBFE104B}"/>
              </a:ext>
            </a:extLst>
          </p:cNvPr>
          <p:cNvSpPr>
            <a:spLocks noGrp="1"/>
          </p:cNvSpPr>
          <p:nvPr>
            <p:ph type="title"/>
          </p:nvPr>
        </p:nvSpPr>
        <p:spPr/>
        <p:txBody>
          <a:bodyPr/>
          <a:lstStyle/>
          <a:p>
            <a:pPr>
              <a:defRPr/>
            </a:pPr>
            <a:r>
              <a:rPr lang="en-US" dirty="0"/>
              <a:t>Ling 10 Sounds</a:t>
            </a:r>
          </a:p>
        </p:txBody>
      </p:sp>
      <p:sp>
        <p:nvSpPr>
          <p:cNvPr id="31747" name="Content Placeholder 4">
            <a:extLst>
              <a:ext uri="{FF2B5EF4-FFF2-40B4-BE49-F238E27FC236}">
                <a16:creationId xmlns:a16="http://schemas.microsoft.com/office/drawing/2014/main" id="{8A16DF94-F8F7-42E2-9CF4-ECD950255B42}"/>
              </a:ext>
            </a:extLst>
          </p:cNvPr>
          <p:cNvSpPr>
            <a:spLocks noGrp="1"/>
          </p:cNvSpPr>
          <p:nvPr>
            <p:ph idx="1"/>
          </p:nvPr>
        </p:nvSpPr>
        <p:spPr>
          <a:xfrm>
            <a:off x="952107" y="1219201"/>
            <a:ext cx="9563493" cy="4246563"/>
          </a:xfrm>
        </p:spPr>
        <p:txBody>
          <a:bodyPr>
            <a:normAutofit/>
          </a:bodyPr>
          <a:lstStyle/>
          <a:p>
            <a:pPr>
              <a:spcBef>
                <a:spcPct val="0"/>
              </a:spcBef>
            </a:pPr>
            <a:endParaRPr lang="en-US" altLang="en-US" dirty="0"/>
          </a:p>
          <a:p>
            <a:pPr>
              <a:spcBef>
                <a:spcPct val="0"/>
              </a:spcBef>
            </a:pPr>
            <a:endParaRPr lang="en-US" altLang="en-US" dirty="0"/>
          </a:p>
          <a:p>
            <a:pPr>
              <a:spcBef>
                <a:spcPct val="0"/>
              </a:spcBef>
            </a:pPr>
            <a:r>
              <a:rPr lang="en-US" altLang="en-US" dirty="0"/>
              <a:t>A behavioral listening check </a:t>
            </a:r>
          </a:p>
          <a:p>
            <a:pPr>
              <a:spcBef>
                <a:spcPct val="0"/>
              </a:spcBef>
            </a:pPr>
            <a:r>
              <a:rPr lang="en-US" altLang="en-US" dirty="0"/>
              <a:t>The sounds indicate a child’s ability to detect all aspects of speech </a:t>
            </a:r>
            <a:r>
              <a:rPr lang="en-US" altLang="en-US"/>
              <a:t>as they </a:t>
            </a:r>
            <a:r>
              <a:rPr lang="en-US" altLang="en-US" dirty="0"/>
              <a:t>encompass</a:t>
            </a:r>
            <a:r>
              <a:rPr lang="en-US" altLang="en-US" i="1" dirty="0"/>
              <a:t> </a:t>
            </a:r>
            <a:r>
              <a:rPr lang="en-US" altLang="en-US" dirty="0"/>
              <a:t>the frequency range of all phonemes.</a:t>
            </a:r>
          </a:p>
          <a:p>
            <a:pPr>
              <a:spcBef>
                <a:spcPct val="0"/>
              </a:spcBef>
            </a:pPr>
            <a:r>
              <a:rPr lang="en-US" altLang="en-US" dirty="0"/>
              <a:t>This check can be used to determine what sounds the student is able to detect, discriminate, and identify</a:t>
            </a:r>
          </a:p>
          <a:p>
            <a:endParaRPr lang="en-US" altLang="en-US" dirty="0"/>
          </a:p>
        </p:txBody>
      </p:sp>
      <p:sp>
        <p:nvSpPr>
          <p:cNvPr id="6" name="Slide Number Placeholder 5">
            <a:extLst>
              <a:ext uri="{FF2B5EF4-FFF2-40B4-BE49-F238E27FC236}">
                <a16:creationId xmlns:a16="http://schemas.microsoft.com/office/drawing/2014/main" id="{1761BD81-AD64-4D6A-B50D-36DDAC509BFA}"/>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1BE5D71E-6918-4E8E-8F4B-6BBD0941EC6D}" type="slidenum">
              <a:rPr lang="en-US" altLang="en-US">
                <a:solidFill>
                  <a:schemeClr val="accent1"/>
                </a:solidFill>
              </a:rPr>
              <a:pPr/>
              <a:t>13</a:t>
            </a:fld>
            <a:endParaRPr lang="en-US" altLang="en-US"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7ECFC-406F-4550-BBC7-FDFF5FDDB8D5}"/>
              </a:ext>
            </a:extLst>
          </p:cNvPr>
          <p:cNvSpPr>
            <a:spLocks noGrp="1"/>
          </p:cNvSpPr>
          <p:nvPr>
            <p:ph type="title"/>
          </p:nvPr>
        </p:nvSpPr>
        <p:spPr/>
        <p:txBody>
          <a:bodyPr/>
          <a:lstStyle/>
          <a:p>
            <a:pPr>
              <a:defRPr/>
            </a:pPr>
            <a:r>
              <a:rPr lang="en-US" dirty="0"/>
              <a:t>Ling 10 continued</a:t>
            </a:r>
          </a:p>
        </p:txBody>
      </p:sp>
      <p:sp>
        <p:nvSpPr>
          <p:cNvPr id="32771" name="Content Placeholder 2">
            <a:extLst>
              <a:ext uri="{FF2B5EF4-FFF2-40B4-BE49-F238E27FC236}">
                <a16:creationId xmlns:a16="http://schemas.microsoft.com/office/drawing/2014/main" id="{79E4D9C7-9862-467A-A164-B0FC2B849485}"/>
              </a:ext>
            </a:extLst>
          </p:cNvPr>
          <p:cNvSpPr>
            <a:spLocks noGrp="1"/>
          </p:cNvSpPr>
          <p:nvPr>
            <p:ph idx="1"/>
          </p:nvPr>
        </p:nvSpPr>
        <p:spPr>
          <a:xfrm>
            <a:off x="1524000" y="2016126"/>
            <a:ext cx="8763000" cy="4308475"/>
          </a:xfrm>
        </p:spPr>
        <p:txBody>
          <a:bodyPr/>
          <a:lstStyle/>
          <a:p>
            <a:pPr>
              <a:spcBef>
                <a:spcPct val="0"/>
              </a:spcBef>
            </a:pPr>
            <a:r>
              <a:rPr lang="en-US" altLang="en-US" dirty="0"/>
              <a:t>Should begin sitting next to the child, move to </a:t>
            </a:r>
            <a:r>
              <a:rPr lang="en-US" altLang="en-US" b="1" dirty="0"/>
              <a:t>3</a:t>
            </a:r>
            <a:r>
              <a:rPr lang="en-US" altLang="en-US" dirty="0"/>
              <a:t> feet then to </a:t>
            </a:r>
            <a:r>
              <a:rPr lang="en-US" altLang="en-US" b="1" dirty="0"/>
              <a:t>6</a:t>
            </a:r>
            <a:r>
              <a:rPr lang="en-US" altLang="en-US" dirty="0"/>
              <a:t> feet.</a:t>
            </a:r>
          </a:p>
          <a:p>
            <a:pPr>
              <a:spcBef>
                <a:spcPct val="0"/>
              </a:spcBef>
            </a:pPr>
            <a:r>
              <a:rPr lang="en-US" altLang="en-US" dirty="0"/>
              <a:t>By including the absence of a sound it teaches the child to indicate when they don’t hear anything.</a:t>
            </a:r>
          </a:p>
          <a:p>
            <a:pPr>
              <a:spcBef>
                <a:spcPct val="0"/>
              </a:spcBef>
            </a:pPr>
            <a:r>
              <a:rPr lang="en-US" altLang="en-US" dirty="0"/>
              <a:t>A child with normal hearing can hear all of these sounds at twenty feet.</a:t>
            </a:r>
          </a:p>
          <a:p>
            <a:pPr>
              <a:spcBef>
                <a:spcPct val="0"/>
              </a:spcBef>
            </a:pPr>
            <a:r>
              <a:rPr lang="en-US" altLang="en-US" dirty="0"/>
              <a:t>Remember to present these in </a:t>
            </a:r>
            <a:r>
              <a:rPr lang="en-US" altLang="en-US" b="1" dirty="0"/>
              <a:t>varying order</a:t>
            </a:r>
            <a:r>
              <a:rPr lang="en-US" altLang="en-US" dirty="0"/>
              <a:t>.</a:t>
            </a:r>
          </a:p>
          <a:p>
            <a:endParaRPr lang="en-US" altLang="en-US" dirty="0"/>
          </a:p>
        </p:txBody>
      </p:sp>
      <p:sp>
        <p:nvSpPr>
          <p:cNvPr id="5" name="Slide Number Placeholder 4">
            <a:extLst>
              <a:ext uri="{FF2B5EF4-FFF2-40B4-BE49-F238E27FC236}">
                <a16:creationId xmlns:a16="http://schemas.microsoft.com/office/drawing/2014/main" id="{D4975FCD-649F-42AC-9291-D8E1A7AD0626}"/>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0C59CE9F-10AE-4250-A282-AE25335C0AFF}" type="slidenum">
              <a:rPr lang="en-US" altLang="en-US">
                <a:solidFill>
                  <a:schemeClr val="accent1"/>
                </a:solidFill>
              </a:rPr>
              <a:pPr/>
              <a:t>14</a:t>
            </a:fld>
            <a:endParaRPr lang="en-US" altLang="en-US" dirty="0">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92B3-6F9E-4A37-96A7-E3A160F04C78}"/>
              </a:ext>
            </a:extLst>
          </p:cNvPr>
          <p:cNvSpPr>
            <a:spLocks noGrp="1"/>
          </p:cNvSpPr>
          <p:nvPr>
            <p:ph type="title"/>
          </p:nvPr>
        </p:nvSpPr>
        <p:spPr>
          <a:xfrm>
            <a:off x="2286000" y="804864"/>
            <a:ext cx="7253288" cy="1049337"/>
          </a:xfrm>
        </p:spPr>
        <p:txBody>
          <a:bodyPr>
            <a:normAutofit/>
          </a:bodyPr>
          <a:lstStyle/>
          <a:p>
            <a:pPr>
              <a:defRPr/>
            </a:pPr>
            <a:r>
              <a:rPr lang="en-US" dirty="0"/>
              <a:t>ESP: Early speech perception test</a:t>
            </a:r>
          </a:p>
        </p:txBody>
      </p:sp>
      <p:sp>
        <p:nvSpPr>
          <p:cNvPr id="3" name="Content Placeholder 2">
            <a:extLst>
              <a:ext uri="{FF2B5EF4-FFF2-40B4-BE49-F238E27FC236}">
                <a16:creationId xmlns:a16="http://schemas.microsoft.com/office/drawing/2014/main" id="{52AAA45F-810D-4ACC-B82D-B0BF91EF54EB}"/>
              </a:ext>
            </a:extLst>
          </p:cNvPr>
          <p:cNvSpPr>
            <a:spLocks noGrp="1"/>
          </p:cNvSpPr>
          <p:nvPr>
            <p:ph idx="1"/>
          </p:nvPr>
        </p:nvSpPr>
        <p:spPr>
          <a:xfrm>
            <a:off x="1752600" y="2016125"/>
            <a:ext cx="8610600" cy="3449638"/>
          </a:xfrm>
        </p:spPr>
        <p:txBody>
          <a:bodyPr/>
          <a:lstStyle/>
          <a:p>
            <a:r>
              <a:rPr lang="en-US" altLang="en-US" sz="2400" dirty="0"/>
              <a:t>Assess pattern and word perception using a </a:t>
            </a:r>
            <a:r>
              <a:rPr lang="en-US" altLang="en-US" sz="2400" b="1" dirty="0"/>
              <a:t>closed-set </a:t>
            </a:r>
            <a:r>
              <a:rPr lang="en-US" altLang="en-US" sz="2400" dirty="0"/>
              <a:t>format</a:t>
            </a:r>
          </a:p>
          <a:p>
            <a:r>
              <a:rPr lang="en-US" altLang="en-US" sz="2400" dirty="0"/>
              <a:t>Results allow for placement into 4 speech perception categories:</a:t>
            </a:r>
          </a:p>
          <a:p>
            <a:pPr lvl="1"/>
            <a:r>
              <a:rPr lang="en-US" altLang="en-US" dirty="0"/>
              <a:t>No pattern perception</a:t>
            </a:r>
          </a:p>
          <a:p>
            <a:pPr lvl="1"/>
            <a:r>
              <a:rPr lang="en-US" altLang="en-US" b="1" dirty="0"/>
              <a:t>Pattern perception</a:t>
            </a:r>
          </a:p>
          <a:p>
            <a:pPr lvl="1"/>
            <a:r>
              <a:rPr lang="en-US" altLang="en-US" dirty="0"/>
              <a:t>Some word identification</a:t>
            </a:r>
          </a:p>
          <a:p>
            <a:pPr lvl="1"/>
            <a:r>
              <a:rPr lang="en-US" altLang="en-US" dirty="0"/>
              <a:t>Consistent word identification</a:t>
            </a:r>
          </a:p>
        </p:txBody>
      </p:sp>
      <p:sp>
        <p:nvSpPr>
          <p:cNvPr id="4" name="Slide Number Placeholder 3">
            <a:extLst>
              <a:ext uri="{FF2B5EF4-FFF2-40B4-BE49-F238E27FC236}">
                <a16:creationId xmlns:a16="http://schemas.microsoft.com/office/drawing/2014/main" id="{00E65D84-C84D-44C3-95A1-04B4F3A1694E}"/>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AFD8B6DD-CC6C-4BD5-9534-4E73DA85AD61}" type="slidenum">
              <a:rPr lang="en-US" altLang="en-US">
                <a:solidFill>
                  <a:schemeClr val="accent1"/>
                </a:solidFill>
              </a:rPr>
              <a:pPr/>
              <a:t>15</a:t>
            </a:fld>
            <a:endParaRPr lang="en-US" altLang="en-US"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F02A-4F4F-4A0A-A7C2-7E760EDEAD1E}"/>
              </a:ext>
            </a:extLst>
          </p:cNvPr>
          <p:cNvSpPr>
            <a:spLocks noGrp="1"/>
          </p:cNvSpPr>
          <p:nvPr>
            <p:ph type="title"/>
          </p:nvPr>
        </p:nvSpPr>
        <p:spPr/>
        <p:txBody>
          <a:bodyPr>
            <a:normAutofit/>
          </a:bodyPr>
          <a:lstStyle/>
          <a:p>
            <a:pPr>
              <a:defRPr/>
            </a:pPr>
            <a:r>
              <a:rPr lang="en-US" dirty="0"/>
              <a:t>Gasp – Glendonald auditory screen procedure</a:t>
            </a:r>
          </a:p>
        </p:txBody>
      </p:sp>
      <p:sp>
        <p:nvSpPr>
          <p:cNvPr id="3" name="Content Placeholder 2">
            <a:extLst>
              <a:ext uri="{FF2B5EF4-FFF2-40B4-BE49-F238E27FC236}">
                <a16:creationId xmlns:a16="http://schemas.microsoft.com/office/drawing/2014/main" id="{138CF4ED-1CF5-44FC-AD68-3CC0AE2DDCD7}"/>
              </a:ext>
            </a:extLst>
          </p:cNvPr>
          <p:cNvSpPr>
            <a:spLocks noGrp="1"/>
          </p:cNvSpPr>
          <p:nvPr>
            <p:ph idx="1"/>
          </p:nvPr>
        </p:nvSpPr>
        <p:spPr/>
        <p:txBody>
          <a:bodyPr>
            <a:normAutofit fontScale="70000" lnSpcReduction="20000"/>
          </a:bodyPr>
          <a:lstStyle/>
          <a:p>
            <a:r>
              <a:rPr lang="en-US" altLang="en-US" sz="3200" dirty="0"/>
              <a:t>Based on </a:t>
            </a:r>
            <a:r>
              <a:rPr lang="en-US" altLang="en-US" sz="3200" b="1" dirty="0"/>
              <a:t>Erber’s</a:t>
            </a:r>
            <a:r>
              <a:rPr lang="en-US" altLang="en-US" sz="3200" dirty="0"/>
              <a:t> model</a:t>
            </a:r>
          </a:p>
          <a:p>
            <a:r>
              <a:rPr lang="en-US" altLang="en-US" sz="3200" dirty="0"/>
              <a:t>3 subtests of speech perception:</a:t>
            </a:r>
          </a:p>
          <a:p>
            <a:pPr lvl="1"/>
            <a:r>
              <a:rPr lang="en-US" altLang="en-US" sz="3200" dirty="0"/>
              <a:t>Phoneme detection</a:t>
            </a:r>
          </a:p>
          <a:p>
            <a:pPr lvl="1"/>
            <a:r>
              <a:rPr lang="en-US" altLang="en-US" sz="3200" b="1" dirty="0"/>
              <a:t>Word identification</a:t>
            </a:r>
          </a:p>
          <a:p>
            <a:pPr lvl="1"/>
            <a:r>
              <a:rPr lang="en-US" altLang="en-US" sz="3200" dirty="0"/>
              <a:t>Sentence comprehension</a:t>
            </a:r>
          </a:p>
          <a:p>
            <a:pPr lvl="1"/>
            <a:endParaRPr lang="en-US" altLang="en-US" sz="3200" dirty="0"/>
          </a:p>
          <a:p>
            <a:pPr marL="228600" lvl="1"/>
            <a:r>
              <a:rPr lang="en-US" altLang="en-US" sz="3200" dirty="0"/>
              <a:t>Results from GASP can aid in planning auditory training because the child’s performance on the subtests is predictive of other related auditory tasks</a:t>
            </a:r>
          </a:p>
          <a:p>
            <a:pPr lvl="1"/>
            <a:endParaRPr lang="en-US" altLang="en-US" sz="3200" dirty="0"/>
          </a:p>
        </p:txBody>
      </p:sp>
      <p:sp>
        <p:nvSpPr>
          <p:cNvPr id="4" name="Slide Number Placeholder 3">
            <a:extLst>
              <a:ext uri="{FF2B5EF4-FFF2-40B4-BE49-F238E27FC236}">
                <a16:creationId xmlns:a16="http://schemas.microsoft.com/office/drawing/2014/main" id="{186AB7FE-B45E-4D3E-BD76-C5032C516794}"/>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2AC8644D-2A03-47F3-83D9-46B6A356A669}" type="slidenum">
              <a:rPr lang="en-US" altLang="en-US">
                <a:solidFill>
                  <a:schemeClr val="accent1"/>
                </a:solidFill>
              </a:rPr>
              <a:pPr/>
              <a:t>16</a:t>
            </a:fld>
            <a:endParaRPr lang="en-US" altLang="en-US"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70E6F-9F1C-49EB-8FA2-C2517DB48C7D}"/>
              </a:ext>
            </a:extLst>
          </p:cNvPr>
          <p:cNvSpPr>
            <a:spLocks noGrp="1"/>
          </p:cNvSpPr>
          <p:nvPr>
            <p:ph type="title"/>
          </p:nvPr>
        </p:nvSpPr>
        <p:spPr/>
        <p:txBody>
          <a:bodyPr>
            <a:normAutofit/>
          </a:bodyPr>
          <a:lstStyle/>
          <a:p>
            <a:pPr>
              <a:defRPr/>
            </a:pPr>
            <a:r>
              <a:rPr lang="en-US" dirty="0"/>
              <a:t>DASL II: Developmental Approach to Successful Listening</a:t>
            </a:r>
          </a:p>
        </p:txBody>
      </p:sp>
      <p:sp>
        <p:nvSpPr>
          <p:cNvPr id="29699" name="Content Placeholder 2">
            <a:extLst>
              <a:ext uri="{FF2B5EF4-FFF2-40B4-BE49-F238E27FC236}">
                <a16:creationId xmlns:a16="http://schemas.microsoft.com/office/drawing/2014/main" id="{F11D8F8D-A888-45C5-8A92-57EE254B809E}"/>
              </a:ext>
            </a:extLst>
          </p:cNvPr>
          <p:cNvSpPr>
            <a:spLocks noGrp="1"/>
          </p:cNvSpPr>
          <p:nvPr>
            <p:ph idx="1"/>
          </p:nvPr>
        </p:nvSpPr>
        <p:spPr/>
        <p:txBody>
          <a:bodyPr>
            <a:normAutofit fontScale="70000" lnSpcReduction="20000"/>
          </a:bodyPr>
          <a:lstStyle/>
          <a:p>
            <a:pPr marL="0" indent="0">
              <a:buNone/>
              <a:defRPr/>
            </a:pPr>
            <a:r>
              <a:rPr lang="en-US" altLang="en-US" sz="3600" dirty="0"/>
              <a:t>Comprehensive test of auditory skills that evaluates:</a:t>
            </a:r>
          </a:p>
          <a:p>
            <a:pPr>
              <a:defRPr/>
            </a:pPr>
            <a:r>
              <a:rPr lang="en-US" altLang="en-US" sz="3600" b="1" dirty="0"/>
              <a:t>Sound awareness</a:t>
            </a:r>
          </a:p>
          <a:p>
            <a:pPr>
              <a:defRPr/>
            </a:pPr>
            <a:r>
              <a:rPr lang="en-US" altLang="en-US" sz="3600" dirty="0"/>
              <a:t>Phonetic listening</a:t>
            </a:r>
          </a:p>
          <a:p>
            <a:pPr>
              <a:defRPr/>
            </a:pPr>
            <a:r>
              <a:rPr lang="en-US" altLang="en-US" sz="3600" dirty="0"/>
              <a:t>Auditory comprehension</a:t>
            </a:r>
          </a:p>
          <a:p>
            <a:pPr>
              <a:defRPr/>
            </a:pPr>
            <a:r>
              <a:rPr lang="en-US" altLang="en-US" sz="3600" dirty="0"/>
              <a:t>Ages </a:t>
            </a:r>
            <a:r>
              <a:rPr lang="en-US" altLang="en-US" sz="3600" b="1" dirty="0"/>
              <a:t>3</a:t>
            </a:r>
            <a:r>
              <a:rPr lang="en-US" altLang="en-US" sz="3600" dirty="0"/>
              <a:t> and up</a:t>
            </a:r>
          </a:p>
          <a:p>
            <a:pPr>
              <a:defRPr/>
            </a:pPr>
            <a:r>
              <a:rPr lang="en-US" altLang="en-US" sz="3600" dirty="0"/>
              <a:t>Some normative information available for children with varying degrees of hearing loss</a:t>
            </a:r>
          </a:p>
          <a:p>
            <a:pPr marL="0" indent="0">
              <a:buNone/>
              <a:defRPr/>
            </a:pPr>
            <a:endParaRPr lang="en-US" altLang="en-US" sz="3600" dirty="0"/>
          </a:p>
        </p:txBody>
      </p:sp>
      <p:sp>
        <p:nvSpPr>
          <p:cNvPr id="3" name="Slide Number Placeholder 2">
            <a:extLst>
              <a:ext uri="{FF2B5EF4-FFF2-40B4-BE49-F238E27FC236}">
                <a16:creationId xmlns:a16="http://schemas.microsoft.com/office/drawing/2014/main" id="{F4DC7130-A20D-413A-B237-C38DC740723E}"/>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967BFA13-F27C-42B7-8E16-A4CEBC1F3DB8}" type="slidenum">
              <a:rPr lang="en-US" altLang="en-US">
                <a:solidFill>
                  <a:schemeClr val="accent1"/>
                </a:solidFill>
              </a:rPr>
              <a:pPr/>
              <a:t>17</a:t>
            </a:fld>
            <a:endParaRPr lang="en-US" altLang="en-US" dirty="0">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Auditory training for infants and toddlers</a:t>
            </a:r>
          </a:p>
        </p:txBody>
      </p:sp>
      <p:pic>
        <p:nvPicPr>
          <p:cNvPr id="4" name="Content Placeholder 3"/>
          <p:cNvPicPr>
            <a:picLocks noGrp="1" noChangeAspect="1"/>
          </p:cNvPicPr>
          <p:nvPr>
            <p:ph idx="1"/>
          </p:nvPr>
        </p:nvPicPr>
        <p:blipFill>
          <a:blip r:embed="rId2"/>
          <a:stretch>
            <a:fillRect/>
          </a:stretch>
        </p:blipFill>
        <p:spPr>
          <a:xfrm>
            <a:off x="3766432" y="2016125"/>
            <a:ext cx="4973461" cy="3449638"/>
          </a:xfrm>
          <a:prstGeom prst="rect">
            <a:avLst/>
          </a:prstGeom>
        </p:spPr>
      </p:pic>
      <p:sp>
        <p:nvSpPr>
          <p:cNvPr id="3" name="Slide Number Placeholder 2">
            <a:extLst>
              <a:ext uri="{FF2B5EF4-FFF2-40B4-BE49-F238E27FC236}">
                <a16:creationId xmlns:a16="http://schemas.microsoft.com/office/drawing/2014/main" id="{339B2679-3C78-4569-A7EA-49FFF938159A}"/>
              </a:ext>
            </a:extLst>
          </p:cNvPr>
          <p:cNvSpPr>
            <a:spLocks noGrp="1"/>
          </p:cNvSpPr>
          <p:nvPr>
            <p:ph type="sldNum" sz="quarter" idx="12"/>
          </p:nvPr>
        </p:nvSpPr>
        <p:spPr/>
        <p:txBody>
          <a:bodyPr/>
          <a:lstStyle/>
          <a:p>
            <a:fld id="{C51C943E-796B-416B-8F40-6FB0B60CFA1E}" type="slidenum">
              <a:rPr lang="en-US" smtClean="0"/>
              <a:t>18</a:t>
            </a:fld>
            <a:endParaRPr lang="en-US" dirty="0"/>
          </a:p>
        </p:txBody>
      </p:sp>
    </p:spTree>
    <p:extLst>
      <p:ext uri="{BB962C8B-B14F-4D97-AF65-F5344CB8AC3E}">
        <p14:creationId xmlns:p14="http://schemas.microsoft.com/office/powerpoint/2010/main" val="28189393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0D573-1327-5D3B-4202-4D1AF526D714}"/>
              </a:ext>
            </a:extLst>
          </p:cNvPr>
          <p:cNvSpPr>
            <a:spLocks noGrp="1"/>
          </p:cNvSpPr>
          <p:nvPr>
            <p:ph type="title"/>
          </p:nvPr>
        </p:nvSpPr>
        <p:spPr>
          <a:xfrm>
            <a:off x="472967" y="179388"/>
            <a:ext cx="11445764" cy="1430337"/>
          </a:xfrm>
        </p:spPr>
        <p:txBody>
          <a:bodyPr>
            <a:noAutofit/>
          </a:bodyPr>
          <a:lstStyle/>
          <a:p>
            <a:pPr>
              <a:defRPr/>
            </a:pPr>
            <a:r>
              <a:rPr lang="en-US" sz="3300" dirty="0"/>
              <a:t>Basic Stages of Auditory Development</a:t>
            </a:r>
            <a:r>
              <a:rPr lang="en-US" sz="3600" i="1" dirty="0"/>
              <a:t> </a:t>
            </a:r>
            <a:br>
              <a:rPr lang="en-US" sz="3600" i="1" dirty="0"/>
            </a:br>
            <a:r>
              <a:rPr lang="en-US" sz="2000" i="1" dirty="0"/>
              <a:t>Hierarchy of Listening Skills/</a:t>
            </a:r>
            <a:r>
              <a:rPr lang="en-US" altLang="en-US" sz="2000" i="1" dirty="0"/>
              <a:t>Levels of Perception Model (</a:t>
            </a:r>
            <a:r>
              <a:rPr lang="en-US" altLang="en-US" sz="2000" i="1" dirty="0" err="1"/>
              <a:t>Erber</a:t>
            </a:r>
            <a:r>
              <a:rPr lang="en-US" altLang="en-US" sz="2000" i="1" dirty="0"/>
              <a:t>)</a:t>
            </a:r>
            <a:endParaRPr lang="en-US" sz="2000" dirty="0"/>
          </a:p>
        </p:txBody>
      </p:sp>
      <p:pic>
        <p:nvPicPr>
          <p:cNvPr id="19459" name="Picture 2" descr="C:\Documents and Settings\Tnicho\Local Settings\Temporary Internet Files\Content.IE5\B0Y3YJY7\MCj04412900000[1].png">
            <a:extLst>
              <a:ext uri="{FF2B5EF4-FFF2-40B4-BE49-F238E27FC236}">
                <a16:creationId xmlns:a16="http://schemas.microsoft.com/office/drawing/2014/main" id="{E02EA963-FD90-BB39-05A2-D0BAB790010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571750" y="2905125"/>
            <a:ext cx="2057400" cy="2057400"/>
          </a:xfrm>
        </p:spPr>
      </p:pic>
      <p:sp>
        <p:nvSpPr>
          <p:cNvPr id="6" name="Content Placeholder 5">
            <a:extLst>
              <a:ext uri="{FF2B5EF4-FFF2-40B4-BE49-F238E27FC236}">
                <a16:creationId xmlns:a16="http://schemas.microsoft.com/office/drawing/2014/main" id="{842716F5-6B1D-06E2-88E1-9018C3333A32}"/>
              </a:ext>
            </a:extLst>
          </p:cNvPr>
          <p:cNvSpPr>
            <a:spLocks noGrp="1"/>
          </p:cNvSpPr>
          <p:nvPr>
            <p:ph sz="half" idx="2"/>
          </p:nvPr>
        </p:nvSpPr>
        <p:spPr>
          <a:xfrm>
            <a:off x="5295900" y="1981200"/>
            <a:ext cx="3086100" cy="4038600"/>
          </a:xfrm>
        </p:spPr>
        <p:txBody>
          <a:bodyPr rtlCol="0">
            <a:normAutofit lnSpcReduction="10000"/>
          </a:bodyPr>
          <a:lstStyle/>
          <a:p>
            <a:pPr marL="385763" indent="-385763" algn="ctr">
              <a:buNone/>
              <a:defRPr/>
            </a:pPr>
            <a:r>
              <a:rPr lang="en-US" sz="2700" dirty="0"/>
              <a:t>Comprehension</a:t>
            </a:r>
          </a:p>
          <a:p>
            <a:pPr marL="385763" indent="-385763" algn="ctr">
              <a:buNone/>
              <a:defRPr/>
            </a:pPr>
            <a:endParaRPr lang="en-US" sz="2700" dirty="0"/>
          </a:p>
          <a:p>
            <a:pPr marL="385763" indent="-385763" algn="ctr">
              <a:buNone/>
              <a:defRPr/>
            </a:pPr>
            <a:r>
              <a:rPr lang="en-US" sz="2700" dirty="0"/>
              <a:t>Identification</a:t>
            </a:r>
          </a:p>
          <a:p>
            <a:pPr marL="385763" indent="-385763" algn="ctr">
              <a:buNone/>
              <a:defRPr/>
            </a:pPr>
            <a:endParaRPr lang="en-US" sz="2700" dirty="0"/>
          </a:p>
          <a:p>
            <a:pPr marL="385763" indent="-385763" algn="ctr">
              <a:buNone/>
              <a:defRPr/>
            </a:pPr>
            <a:r>
              <a:rPr lang="en-US" sz="2700" dirty="0"/>
              <a:t>Discrimination</a:t>
            </a:r>
          </a:p>
          <a:p>
            <a:pPr marL="385763" indent="-385763" algn="ctr">
              <a:buNone/>
              <a:defRPr/>
            </a:pPr>
            <a:endParaRPr lang="en-US" sz="2700" dirty="0"/>
          </a:p>
          <a:p>
            <a:pPr marL="385763" indent="-385763" algn="ctr">
              <a:buNone/>
              <a:defRPr/>
            </a:pPr>
            <a:r>
              <a:rPr lang="en-US" sz="2700" dirty="0"/>
              <a:t>Detection</a:t>
            </a:r>
          </a:p>
        </p:txBody>
      </p:sp>
      <p:sp>
        <p:nvSpPr>
          <p:cNvPr id="14" name="Up Arrow 13">
            <a:extLst>
              <a:ext uri="{FF2B5EF4-FFF2-40B4-BE49-F238E27FC236}">
                <a16:creationId xmlns:a16="http://schemas.microsoft.com/office/drawing/2014/main" id="{5180029A-ED26-B395-6FA9-C210D6B56DBC}"/>
              </a:ext>
            </a:extLst>
          </p:cNvPr>
          <p:cNvSpPr/>
          <p:nvPr/>
        </p:nvSpPr>
        <p:spPr>
          <a:xfrm>
            <a:off x="6723064" y="4838701"/>
            <a:ext cx="363537" cy="219075"/>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5" name="Up Arrow 14">
            <a:extLst>
              <a:ext uri="{FF2B5EF4-FFF2-40B4-BE49-F238E27FC236}">
                <a16:creationId xmlns:a16="http://schemas.microsoft.com/office/drawing/2014/main" id="{10DB824D-C023-C992-6374-A4480B265EEC}"/>
              </a:ext>
            </a:extLst>
          </p:cNvPr>
          <p:cNvSpPr/>
          <p:nvPr/>
        </p:nvSpPr>
        <p:spPr>
          <a:xfrm>
            <a:off x="6723064" y="3657601"/>
            <a:ext cx="363537" cy="219075"/>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6" name="Up Arrow 15">
            <a:extLst>
              <a:ext uri="{FF2B5EF4-FFF2-40B4-BE49-F238E27FC236}">
                <a16:creationId xmlns:a16="http://schemas.microsoft.com/office/drawing/2014/main" id="{94FA2AD1-8A6F-30C8-409C-A5BD3DDE62DD}"/>
              </a:ext>
            </a:extLst>
          </p:cNvPr>
          <p:cNvSpPr/>
          <p:nvPr/>
        </p:nvSpPr>
        <p:spPr>
          <a:xfrm>
            <a:off x="6724650" y="2817814"/>
            <a:ext cx="363538" cy="219075"/>
          </a:xfrm>
          <a:prstGeom prst="up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57B6387F-0EC8-4759-AB5E-119E2CFA3FCB}"/>
              </a:ext>
            </a:extLst>
          </p:cNvPr>
          <p:cNvSpPr>
            <a:spLocks noGrp="1" noChangeArrowheads="1"/>
          </p:cNvSpPr>
          <p:nvPr>
            <p:ph type="title"/>
          </p:nvPr>
        </p:nvSpPr>
        <p:spPr/>
        <p:txBody>
          <a:bodyPr/>
          <a:lstStyle/>
          <a:p>
            <a:r>
              <a:rPr lang="en-US" altLang="en-US" dirty="0"/>
              <a:t>Detection of sounds (Sound Awareness)</a:t>
            </a:r>
          </a:p>
        </p:txBody>
      </p:sp>
      <p:sp>
        <p:nvSpPr>
          <p:cNvPr id="77827" name="Rectangle 3">
            <a:extLst>
              <a:ext uri="{FF2B5EF4-FFF2-40B4-BE49-F238E27FC236}">
                <a16:creationId xmlns:a16="http://schemas.microsoft.com/office/drawing/2014/main" id="{3D72FAA5-F1EF-4CB1-8063-797FAF8411FF}"/>
              </a:ext>
            </a:extLst>
          </p:cNvPr>
          <p:cNvSpPr>
            <a:spLocks noGrp="1" noChangeArrowheads="1"/>
          </p:cNvSpPr>
          <p:nvPr>
            <p:ph idx="1"/>
          </p:nvPr>
        </p:nvSpPr>
        <p:spPr/>
        <p:txBody>
          <a:bodyPr>
            <a:normAutofit/>
          </a:bodyPr>
          <a:lstStyle/>
          <a:p>
            <a:pPr>
              <a:lnSpc>
                <a:spcPct val="80000"/>
              </a:lnSpc>
            </a:pPr>
            <a:r>
              <a:rPr lang="en-US" altLang="en-US" dirty="0"/>
              <a:t>Ability to determine the presence or absence of sound (audition-only).</a:t>
            </a:r>
          </a:p>
          <a:p>
            <a:pPr>
              <a:lnSpc>
                <a:spcPct val="80000"/>
              </a:lnSpc>
            </a:pPr>
            <a:r>
              <a:rPr lang="en-US" altLang="en-US" dirty="0"/>
              <a:t>“</a:t>
            </a:r>
            <a:r>
              <a:rPr lang="en-US" altLang="en-US" b="1" dirty="0"/>
              <a:t>Sound Conditioning</a:t>
            </a:r>
            <a:r>
              <a:rPr lang="en-US" altLang="en-US" dirty="0"/>
              <a:t>”</a:t>
            </a:r>
          </a:p>
          <a:p>
            <a:pPr lvl="1">
              <a:lnSpc>
                <a:spcPct val="80000"/>
              </a:lnSpc>
            </a:pPr>
            <a:endParaRPr lang="en-US" altLang="en-US" dirty="0"/>
          </a:p>
        </p:txBody>
      </p:sp>
      <p:sp>
        <p:nvSpPr>
          <p:cNvPr id="77828" name="Text Box 4">
            <a:extLst>
              <a:ext uri="{FF2B5EF4-FFF2-40B4-BE49-F238E27FC236}">
                <a16:creationId xmlns:a16="http://schemas.microsoft.com/office/drawing/2014/main" id="{184F1411-C79B-4D84-9419-C2A06412B3BD}"/>
              </a:ext>
            </a:extLst>
          </p:cNvPr>
          <p:cNvSpPr txBox="1">
            <a:spLocks noChangeArrowheads="1"/>
          </p:cNvSpPr>
          <p:nvPr/>
        </p:nvSpPr>
        <p:spPr bwMode="auto">
          <a:xfrm>
            <a:off x="6821489" y="6583364"/>
            <a:ext cx="347556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200" dirty="0"/>
              <a:t>Taken from: Sandie Bass-Ringdahl, University of Iowa</a:t>
            </a:r>
            <a:endParaRPr lang="en-US" altLang="en-US" dirty="0"/>
          </a:p>
        </p:txBody>
      </p:sp>
      <p:sp>
        <p:nvSpPr>
          <p:cNvPr id="2" name="Slide Number Placeholder 1">
            <a:extLst>
              <a:ext uri="{FF2B5EF4-FFF2-40B4-BE49-F238E27FC236}">
                <a16:creationId xmlns:a16="http://schemas.microsoft.com/office/drawing/2014/main" id="{74FB91D5-15BD-4216-9407-99E4E2398DBC}"/>
              </a:ext>
            </a:extLst>
          </p:cNvPr>
          <p:cNvSpPr>
            <a:spLocks noGrp="1"/>
          </p:cNvSpPr>
          <p:nvPr>
            <p:ph type="sldNum" sz="quarter" idx="12"/>
          </p:nvPr>
        </p:nvSpPr>
        <p:spPr/>
        <p:txBody>
          <a:bodyPr/>
          <a:lstStyle/>
          <a:p>
            <a:fld id="{C51C943E-796B-416B-8F40-6FB0B60CFA1E}" type="slidenum">
              <a:rPr lang="en-US" smtClean="0"/>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Detection cont.</a:t>
            </a:r>
          </a:p>
        </p:txBody>
      </p:sp>
      <p:sp>
        <p:nvSpPr>
          <p:cNvPr id="14339" name="Content Placeholder 2"/>
          <p:cNvSpPr>
            <a:spLocks noGrp="1"/>
          </p:cNvSpPr>
          <p:nvPr>
            <p:ph idx="1"/>
          </p:nvPr>
        </p:nvSpPr>
        <p:spPr>
          <a:xfrm>
            <a:off x="1905000" y="1853754"/>
            <a:ext cx="8229600" cy="5004246"/>
          </a:xfrm>
        </p:spPr>
        <p:txBody>
          <a:bodyPr>
            <a:noAutofit/>
          </a:bodyPr>
          <a:lstStyle/>
          <a:p>
            <a:r>
              <a:rPr lang="en-US" sz="2000" dirty="0"/>
              <a:t>To develop sound awareness, a conditioned response is needed.</a:t>
            </a:r>
          </a:p>
          <a:p>
            <a:pPr lvl="1"/>
            <a:r>
              <a:rPr lang="en-US" sz="2000" u="sng" dirty="0"/>
              <a:t>Conditioned response</a:t>
            </a:r>
            <a:r>
              <a:rPr lang="en-US" sz="2000" dirty="0"/>
              <a:t>.  Child listens and responds in a defined way each time he/she hears a sound.</a:t>
            </a:r>
          </a:p>
          <a:p>
            <a:pPr lvl="1"/>
            <a:r>
              <a:rPr lang="en-US" sz="2000" u="sng" dirty="0"/>
              <a:t>To establish a conditioned response</a:t>
            </a:r>
            <a:r>
              <a:rPr lang="en-US" sz="2000" dirty="0"/>
              <a:t>:  </a:t>
            </a:r>
          </a:p>
          <a:p>
            <a:pPr lvl="2"/>
            <a:r>
              <a:rPr lang="en-US" dirty="0"/>
              <a:t>signal “</a:t>
            </a:r>
            <a:r>
              <a:rPr lang="en-US" b="1" dirty="0"/>
              <a:t>listen</a:t>
            </a:r>
            <a:r>
              <a:rPr lang="en-US" dirty="0"/>
              <a:t>”</a:t>
            </a:r>
          </a:p>
          <a:p>
            <a:pPr lvl="2"/>
            <a:r>
              <a:rPr lang="en-US" b="1" dirty="0"/>
              <a:t>pause </a:t>
            </a:r>
            <a:r>
              <a:rPr lang="en-US" dirty="0"/>
              <a:t>and establish eye contact</a:t>
            </a:r>
          </a:p>
          <a:p>
            <a:pPr lvl="2"/>
            <a:r>
              <a:rPr lang="en-US" b="1" dirty="0"/>
              <a:t>cover mouth</a:t>
            </a:r>
            <a:r>
              <a:rPr lang="en-US" dirty="0"/>
              <a:t>, be careful not to muffle the sound</a:t>
            </a:r>
          </a:p>
          <a:p>
            <a:pPr lvl="2"/>
            <a:r>
              <a:rPr lang="en-US" dirty="0"/>
              <a:t>pause (vary length to avoid over anticipation)</a:t>
            </a:r>
          </a:p>
          <a:p>
            <a:pPr lvl="2"/>
            <a:r>
              <a:rPr lang="en-US" dirty="0"/>
              <a:t>provide the sound</a:t>
            </a:r>
          </a:p>
          <a:p>
            <a:pPr lvl="2"/>
            <a:r>
              <a:rPr lang="en-US" dirty="0"/>
              <a:t>expect child to respond (may have to guide the child at first)</a:t>
            </a:r>
          </a:p>
          <a:p>
            <a:pPr lvl="2"/>
            <a:endParaRPr lang="en-US" dirty="0"/>
          </a:p>
          <a:p>
            <a:pPr lvl="2">
              <a:buNone/>
            </a:pPr>
            <a:r>
              <a:rPr lang="en-US" sz="1000" dirty="0"/>
              <a:t>						Taken from: Sandie Bass-Ringdahl, University of Iowa</a:t>
            </a:r>
          </a:p>
          <a:p>
            <a:pPr lvl="2"/>
            <a:endParaRPr lang="en-US" dirty="0"/>
          </a:p>
          <a:p>
            <a:pPr lvl="2">
              <a:buNone/>
            </a:pPr>
            <a:r>
              <a:rPr lang="en-US" dirty="0"/>
              <a:t>						</a:t>
            </a:r>
          </a:p>
          <a:p>
            <a:endParaRPr lang="en-US" sz="2000" dirty="0"/>
          </a:p>
        </p:txBody>
      </p:sp>
      <p:sp>
        <p:nvSpPr>
          <p:cNvPr id="2" name="Slide Number Placeholder 1">
            <a:extLst>
              <a:ext uri="{FF2B5EF4-FFF2-40B4-BE49-F238E27FC236}">
                <a16:creationId xmlns:a16="http://schemas.microsoft.com/office/drawing/2014/main" id="{6B7E0816-3DA5-4E84-BACA-2E53B14B4DD6}"/>
              </a:ext>
            </a:extLst>
          </p:cNvPr>
          <p:cNvSpPr>
            <a:spLocks noGrp="1"/>
          </p:cNvSpPr>
          <p:nvPr>
            <p:ph type="sldNum" sz="quarter" idx="12"/>
          </p:nvPr>
        </p:nvSpPr>
        <p:spPr/>
        <p:txBody>
          <a:bodyPr/>
          <a:lstStyle/>
          <a:p>
            <a:fld id="{C51C943E-796B-416B-8F40-6FB0B60CFA1E}" type="slidenum">
              <a:rPr lang="en-US" smtClean="0"/>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A6DF1-4BA9-6F05-8868-17CBE39D9F84}"/>
              </a:ext>
            </a:extLst>
          </p:cNvPr>
          <p:cNvSpPr>
            <a:spLocks noGrp="1"/>
          </p:cNvSpPr>
          <p:nvPr>
            <p:ph type="title"/>
          </p:nvPr>
        </p:nvSpPr>
        <p:spPr/>
        <p:txBody>
          <a:bodyPr/>
          <a:lstStyle/>
          <a:p>
            <a:r>
              <a:rPr lang="en-US" dirty="0"/>
              <a:t>Examples of detection Tasks</a:t>
            </a:r>
          </a:p>
        </p:txBody>
      </p:sp>
      <p:sp>
        <p:nvSpPr>
          <p:cNvPr id="3" name="Content Placeholder 2">
            <a:extLst>
              <a:ext uri="{FF2B5EF4-FFF2-40B4-BE49-F238E27FC236}">
                <a16:creationId xmlns:a16="http://schemas.microsoft.com/office/drawing/2014/main" id="{CF46BB83-C59C-25B0-763E-CA1DFC0C1ABE}"/>
              </a:ext>
            </a:extLst>
          </p:cNvPr>
          <p:cNvSpPr>
            <a:spLocks noGrp="1"/>
          </p:cNvSpPr>
          <p:nvPr>
            <p:ph idx="1"/>
          </p:nvPr>
        </p:nvSpPr>
        <p:spPr/>
        <p:txBody>
          <a:bodyPr/>
          <a:lstStyle/>
          <a:p>
            <a:pPr lvl="1"/>
            <a:r>
              <a:rPr lang="en-US" sz="2000" dirty="0"/>
              <a:t>responds to loud, low frequency environmental sound (e.g., drum)</a:t>
            </a:r>
          </a:p>
          <a:p>
            <a:pPr lvl="1"/>
            <a:r>
              <a:rPr lang="en-US" sz="2000" dirty="0"/>
              <a:t>responds to presence of a </a:t>
            </a:r>
            <a:r>
              <a:rPr lang="en-US" sz="2000" b="1" dirty="0"/>
              <a:t>speech syllable</a:t>
            </a:r>
            <a:r>
              <a:rPr lang="en-US" sz="2000" dirty="0"/>
              <a:t> (e.g., /</a:t>
            </a:r>
            <a:r>
              <a:rPr lang="en-US" sz="2000" dirty="0" err="1"/>
              <a:t>ba</a:t>
            </a:r>
            <a:r>
              <a:rPr lang="en-US" sz="2000" dirty="0"/>
              <a:t>/)</a:t>
            </a:r>
          </a:p>
          <a:p>
            <a:pPr lvl="1"/>
            <a:r>
              <a:rPr lang="en-US" sz="2000" dirty="0"/>
              <a:t>responds to variety of environmental sounds (e.g., whistle, horn, knock on the table) </a:t>
            </a:r>
          </a:p>
          <a:p>
            <a:pPr lvl="1"/>
            <a:r>
              <a:rPr lang="en-US" sz="2000" dirty="0"/>
              <a:t>indicates when an ongoing </a:t>
            </a:r>
            <a:r>
              <a:rPr lang="en-US" sz="2000" b="1" dirty="0"/>
              <a:t>environmental sound stops</a:t>
            </a:r>
            <a:r>
              <a:rPr lang="en-US" sz="2000" dirty="0"/>
              <a:t> (e.g., music)</a:t>
            </a:r>
          </a:p>
          <a:p>
            <a:pPr lvl="1"/>
            <a:r>
              <a:rPr lang="en-US" sz="2000" dirty="0"/>
              <a:t>indicates when a continuous speech syllable stops (e.g., sustained /</a:t>
            </a:r>
            <a:r>
              <a:rPr lang="en-US" sz="2000" dirty="0" err="1"/>
              <a:t>ba</a:t>
            </a:r>
            <a:r>
              <a:rPr lang="en-US" sz="2000" dirty="0"/>
              <a:t>/).</a:t>
            </a:r>
          </a:p>
          <a:p>
            <a:endParaRPr lang="en-US" dirty="0"/>
          </a:p>
        </p:txBody>
      </p:sp>
      <p:sp>
        <p:nvSpPr>
          <p:cNvPr id="4" name="Slide Number Placeholder 3">
            <a:extLst>
              <a:ext uri="{FF2B5EF4-FFF2-40B4-BE49-F238E27FC236}">
                <a16:creationId xmlns:a16="http://schemas.microsoft.com/office/drawing/2014/main" id="{4D3E017A-35B9-6F57-8ECE-537610A0DB91}"/>
              </a:ext>
            </a:extLst>
          </p:cNvPr>
          <p:cNvSpPr>
            <a:spLocks noGrp="1"/>
          </p:cNvSpPr>
          <p:nvPr>
            <p:ph type="sldNum" sz="quarter" idx="12"/>
          </p:nvPr>
        </p:nvSpPr>
        <p:spPr/>
        <p:txBody>
          <a:bodyPr/>
          <a:lstStyle/>
          <a:p>
            <a:fld id="{C51C943E-796B-416B-8F40-6FB0B60CFA1E}" type="slidenum">
              <a:rPr lang="en-US" smtClean="0"/>
              <a:t>22</a:t>
            </a:fld>
            <a:endParaRPr lang="en-US" dirty="0"/>
          </a:p>
        </p:txBody>
      </p:sp>
    </p:spTree>
    <p:extLst>
      <p:ext uri="{BB962C8B-B14F-4D97-AF65-F5344CB8AC3E}">
        <p14:creationId xmlns:p14="http://schemas.microsoft.com/office/powerpoint/2010/main" val="2804068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Detection/Sound awareness activities</a:t>
            </a:r>
          </a:p>
        </p:txBody>
      </p:sp>
      <p:pic>
        <p:nvPicPr>
          <p:cNvPr id="4" name="Content Placeholder 3"/>
          <p:cNvPicPr>
            <a:picLocks noGrp="1" noChangeAspect="1"/>
          </p:cNvPicPr>
          <p:nvPr>
            <p:ph sz="half" idx="1"/>
          </p:nvPr>
        </p:nvPicPr>
        <p:blipFill>
          <a:blip r:embed="rId2"/>
          <a:stretch>
            <a:fillRect/>
          </a:stretch>
        </p:blipFill>
        <p:spPr>
          <a:xfrm>
            <a:off x="2485895" y="2011363"/>
            <a:ext cx="2568835" cy="3448050"/>
          </a:xfrm>
          <a:prstGeom prst="rect">
            <a:avLst/>
          </a:prstGeom>
        </p:spPr>
      </p:pic>
      <p:sp>
        <p:nvSpPr>
          <p:cNvPr id="5" name="Content Placeholder 4"/>
          <p:cNvSpPr>
            <a:spLocks noGrp="1"/>
          </p:cNvSpPr>
          <p:nvPr>
            <p:ph sz="half" idx="2"/>
          </p:nvPr>
        </p:nvSpPr>
        <p:spPr/>
        <p:txBody>
          <a:bodyPr/>
          <a:lstStyle/>
          <a:p>
            <a:r>
              <a:rPr lang="en-US" dirty="0"/>
              <a:t>Play </a:t>
            </a:r>
            <a:r>
              <a:rPr lang="en-US" i="1" dirty="0"/>
              <a:t>peek-a-boo</a:t>
            </a:r>
            <a:endParaRPr lang="en-US" dirty="0"/>
          </a:p>
          <a:p>
            <a:r>
              <a:rPr lang="en-US" dirty="0"/>
              <a:t>Play musical chairs</a:t>
            </a:r>
          </a:p>
          <a:p>
            <a:r>
              <a:rPr lang="en-US" dirty="0"/>
              <a:t>March to the beat of a drum</a:t>
            </a:r>
          </a:p>
          <a:p>
            <a:r>
              <a:rPr lang="en-US" dirty="0"/>
              <a:t>Push the toy care whenever the clinician says “Vrrrrm”</a:t>
            </a:r>
          </a:p>
        </p:txBody>
      </p:sp>
      <p:sp>
        <p:nvSpPr>
          <p:cNvPr id="3" name="Slide Number Placeholder 2">
            <a:extLst>
              <a:ext uri="{FF2B5EF4-FFF2-40B4-BE49-F238E27FC236}">
                <a16:creationId xmlns:a16="http://schemas.microsoft.com/office/drawing/2014/main" id="{4DB9E36F-8762-48CA-A10C-9256DB500D0F}"/>
              </a:ext>
            </a:extLst>
          </p:cNvPr>
          <p:cNvSpPr>
            <a:spLocks noGrp="1"/>
          </p:cNvSpPr>
          <p:nvPr>
            <p:ph type="sldNum" sz="quarter" idx="12"/>
          </p:nvPr>
        </p:nvSpPr>
        <p:spPr/>
        <p:txBody>
          <a:bodyPr/>
          <a:lstStyle/>
          <a:p>
            <a:fld id="{C51C943E-796B-416B-8F40-6FB0B60CFA1E}" type="slidenum">
              <a:rPr lang="en-US" smtClean="0"/>
              <a:t>23</a:t>
            </a:fld>
            <a:endParaRPr lang="en-US" dirty="0"/>
          </a:p>
        </p:txBody>
      </p:sp>
    </p:spTree>
    <p:extLst>
      <p:ext uri="{BB962C8B-B14F-4D97-AF65-F5344CB8AC3E}">
        <p14:creationId xmlns:p14="http://schemas.microsoft.com/office/powerpoint/2010/main" val="1640463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normAutofit/>
          </a:bodyPr>
          <a:lstStyle/>
          <a:p>
            <a:r>
              <a:rPr lang="en-US" dirty="0"/>
              <a:t>Example: Detection objective </a:t>
            </a:r>
          </a:p>
        </p:txBody>
      </p:sp>
      <p:sp>
        <p:nvSpPr>
          <p:cNvPr id="283651" name="Rectangle 3"/>
          <p:cNvSpPr>
            <a:spLocks noGrp="1" noChangeArrowheads="1"/>
          </p:cNvSpPr>
          <p:nvPr>
            <p:ph idx="1"/>
          </p:nvPr>
        </p:nvSpPr>
        <p:spPr>
          <a:xfrm>
            <a:off x="2209800" y="2083324"/>
            <a:ext cx="7772400" cy="4393676"/>
          </a:xfrm>
        </p:spPr>
        <p:txBody>
          <a:bodyPr>
            <a:normAutofit/>
          </a:bodyPr>
          <a:lstStyle/>
          <a:p>
            <a:pPr>
              <a:lnSpc>
                <a:spcPct val="80000"/>
              </a:lnSpc>
            </a:pPr>
            <a:r>
              <a:rPr lang="en-US" sz="2800" dirty="0"/>
              <a:t>Detects strong and/or low-frequency voice 1-3 feet from CI microphone.</a:t>
            </a:r>
          </a:p>
          <a:p>
            <a:pPr>
              <a:lnSpc>
                <a:spcPct val="80000"/>
              </a:lnSpc>
            </a:pPr>
            <a:r>
              <a:rPr lang="en-US" sz="2800" dirty="0"/>
              <a:t>Attends to 3 loud toy or environmental sounds from 4-6 feet from FM microphone.</a:t>
            </a:r>
          </a:p>
          <a:p>
            <a:pPr>
              <a:lnSpc>
                <a:spcPct val="80000"/>
              </a:lnSpc>
            </a:pPr>
            <a:r>
              <a:rPr lang="en-US" sz="2800" dirty="0"/>
              <a:t>Detects 3 moderate intensity environmental sounds (e.g., baby swing music, microwave beep to indicate bottle is ready, running water for a bath).</a:t>
            </a:r>
          </a:p>
        </p:txBody>
      </p:sp>
      <p:sp>
        <p:nvSpPr>
          <p:cNvPr id="283652" name="Text Box 4"/>
          <p:cNvSpPr txBox="1">
            <a:spLocks noChangeArrowheads="1"/>
          </p:cNvSpPr>
          <p:nvPr/>
        </p:nvSpPr>
        <p:spPr bwMode="auto">
          <a:xfrm>
            <a:off x="6705601" y="6324601"/>
            <a:ext cx="2799997" cy="276999"/>
          </a:xfrm>
          <a:prstGeom prst="rect">
            <a:avLst/>
          </a:prstGeom>
          <a:noFill/>
          <a:ln w="9525">
            <a:noFill/>
            <a:miter lim="800000"/>
            <a:headEnd/>
            <a:tailEnd/>
          </a:ln>
          <a:effectLst/>
        </p:spPr>
        <p:txBody>
          <a:bodyPr wrap="none">
            <a:spAutoFit/>
          </a:bodyPr>
          <a:lstStyle/>
          <a:p>
            <a:r>
              <a:rPr lang="en-US" sz="1200" dirty="0"/>
              <a:t>Taken from: </a:t>
            </a:r>
            <a:r>
              <a:rPr lang="en-US" sz="1200" i="1" dirty="0"/>
              <a:t>Parent-Infant Communication</a:t>
            </a:r>
            <a:endParaRPr lang="en-US" dirty="0"/>
          </a:p>
        </p:txBody>
      </p:sp>
      <p:sp>
        <p:nvSpPr>
          <p:cNvPr id="2" name="Slide Number Placeholder 1">
            <a:extLst>
              <a:ext uri="{FF2B5EF4-FFF2-40B4-BE49-F238E27FC236}">
                <a16:creationId xmlns:a16="http://schemas.microsoft.com/office/drawing/2014/main" id="{DFE1CAD2-728B-487E-811A-F8EB7CF42F87}"/>
              </a:ext>
            </a:extLst>
          </p:cNvPr>
          <p:cNvSpPr>
            <a:spLocks noGrp="1"/>
          </p:cNvSpPr>
          <p:nvPr>
            <p:ph type="sldNum" sz="quarter" idx="12"/>
          </p:nvPr>
        </p:nvSpPr>
        <p:spPr/>
        <p:txBody>
          <a:bodyPr/>
          <a:lstStyle/>
          <a:p>
            <a:fld id="{C51C943E-796B-416B-8F40-6FB0B60CFA1E}" type="slidenum">
              <a:rPr lang="en-US" smtClean="0"/>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2873B68D-72FB-4BD5-9E1C-45615A567334}"/>
              </a:ext>
            </a:extLst>
          </p:cNvPr>
          <p:cNvSpPr>
            <a:spLocks noGrp="1" noChangeArrowheads="1"/>
          </p:cNvSpPr>
          <p:nvPr>
            <p:ph type="title"/>
          </p:nvPr>
        </p:nvSpPr>
        <p:spPr/>
        <p:txBody>
          <a:bodyPr/>
          <a:lstStyle/>
          <a:p>
            <a:pPr marL="838200" indent="-838200"/>
            <a:r>
              <a:rPr lang="en-US" altLang="en-US" dirty="0"/>
              <a:t>Discrimination </a:t>
            </a:r>
          </a:p>
        </p:txBody>
      </p:sp>
      <p:sp>
        <p:nvSpPr>
          <p:cNvPr id="78851" name="Rectangle 3">
            <a:extLst>
              <a:ext uri="{FF2B5EF4-FFF2-40B4-BE49-F238E27FC236}">
                <a16:creationId xmlns:a16="http://schemas.microsoft.com/office/drawing/2014/main" id="{0991B1F6-13D8-4CFD-BE0C-3A6782BA522A}"/>
              </a:ext>
            </a:extLst>
          </p:cNvPr>
          <p:cNvSpPr>
            <a:spLocks noGrp="1" noChangeArrowheads="1"/>
          </p:cNvSpPr>
          <p:nvPr>
            <p:ph idx="1"/>
          </p:nvPr>
        </p:nvSpPr>
        <p:spPr>
          <a:xfrm>
            <a:off x="2209800" y="1853754"/>
            <a:ext cx="7772400" cy="4699446"/>
          </a:xfrm>
        </p:spPr>
        <p:txBody>
          <a:bodyPr/>
          <a:lstStyle/>
          <a:p>
            <a:r>
              <a:rPr lang="en-US" altLang="en-US" dirty="0"/>
              <a:t>Discrimination of sounds refers to the ability to perceive similarities and differences between two or more sounds (including speech stimuli).</a:t>
            </a:r>
            <a:r>
              <a:rPr lang="en-US" altLang="en-US" sz="2800" dirty="0"/>
              <a:t> </a:t>
            </a:r>
          </a:p>
          <a:p>
            <a:r>
              <a:rPr lang="en-US" altLang="en-US" dirty="0"/>
              <a:t>Can include </a:t>
            </a:r>
            <a:r>
              <a:rPr lang="en-US" altLang="en-US" b="1" dirty="0"/>
              <a:t>suprasegmental and segmental contrasts</a:t>
            </a:r>
            <a:br>
              <a:rPr lang="en-US" altLang="en-US" b="1" dirty="0"/>
            </a:br>
            <a:r>
              <a:rPr lang="en-US" altLang="en-US" b="1" dirty="0"/>
              <a:t> (duration / intensity / pitch ) </a:t>
            </a:r>
          </a:p>
          <a:p>
            <a:endParaRPr lang="en-US" altLang="en-US" b="1" dirty="0"/>
          </a:p>
          <a:p>
            <a:pPr>
              <a:lnSpc>
                <a:spcPct val="70000"/>
              </a:lnSpc>
            </a:pPr>
            <a:endParaRPr lang="en-US" altLang="en-US" sz="2000" dirty="0"/>
          </a:p>
        </p:txBody>
      </p:sp>
      <p:sp>
        <p:nvSpPr>
          <p:cNvPr id="78852" name="Text Box 4">
            <a:extLst>
              <a:ext uri="{FF2B5EF4-FFF2-40B4-BE49-F238E27FC236}">
                <a16:creationId xmlns:a16="http://schemas.microsoft.com/office/drawing/2014/main" id="{A3134148-48FF-4669-88DD-A60311D95B2D}"/>
              </a:ext>
            </a:extLst>
          </p:cNvPr>
          <p:cNvSpPr txBox="1">
            <a:spLocks noChangeArrowheads="1"/>
          </p:cNvSpPr>
          <p:nvPr/>
        </p:nvSpPr>
        <p:spPr bwMode="auto">
          <a:xfrm>
            <a:off x="6816726" y="6583364"/>
            <a:ext cx="347556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200" dirty="0"/>
              <a:t>Taken from: Sandie Bass-Ringdahl, University of Iowa</a:t>
            </a:r>
            <a:endParaRPr lang="en-US" altLang="en-US" dirty="0"/>
          </a:p>
        </p:txBody>
      </p:sp>
      <p:sp>
        <p:nvSpPr>
          <p:cNvPr id="2" name="Slide Number Placeholder 1">
            <a:extLst>
              <a:ext uri="{FF2B5EF4-FFF2-40B4-BE49-F238E27FC236}">
                <a16:creationId xmlns:a16="http://schemas.microsoft.com/office/drawing/2014/main" id="{771DD559-73D1-474D-8A70-4055A5D4FFAC}"/>
              </a:ext>
            </a:extLst>
          </p:cNvPr>
          <p:cNvSpPr>
            <a:spLocks noGrp="1"/>
          </p:cNvSpPr>
          <p:nvPr>
            <p:ph type="sldNum" sz="quarter" idx="12"/>
          </p:nvPr>
        </p:nvSpPr>
        <p:spPr/>
        <p:txBody>
          <a:bodyPr/>
          <a:lstStyle/>
          <a:p>
            <a:fld id="{C51C943E-796B-416B-8F40-6FB0B60CFA1E}" type="slidenum">
              <a:rPr lang="en-US" smtClean="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EBBA-6E2A-6F2F-FB1F-0EDB9ABC27F3}"/>
              </a:ext>
            </a:extLst>
          </p:cNvPr>
          <p:cNvSpPr>
            <a:spLocks noGrp="1"/>
          </p:cNvSpPr>
          <p:nvPr>
            <p:ph type="title"/>
          </p:nvPr>
        </p:nvSpPr>
        <p:spPr/>
        <p:txBody>
          <a:bodyPr/>
          <a:lstStyle/>
          <a:p>
            <a:r>
              <a:rPr lang="en-US" dirty="0"/>
              <a:t>Examples of discrimination tasks</a:t>
            </a:r>
          </a:p>
        </p:txBody>
      </p:sp>
      <p:sp>
        <p:nvSpPr>
          <p:cNvPr id="3" name="Content Placeholder 2">
            <a:extLst>
              <a:ext uri="{FF2B5EF4-FFF2-40B4-BE49-F238E27FC236}">
                <a16:creationId xmlns:a16="http://schemas.microsoft.com/office/drawing/2014/main" id="{9122E4CC-46EA-FC48-4EEF-C0BECCC548D1}"/>
              </a:ext>
            </a:extLst>
          </p:cNvPr>
          <p:cNvSpPr>
            <a:spLocks noGrp="1"/>
          </p:cNvSpPr>
          <p:nvPr>
            <p:ph idx="1"/>
          </p:nvPr>
        </p:nvSpPr>
        <p:spPr/>
        <p:txBody>
          <a:bodyPr/>
          <a:lstStyle/>
          <a:p>
            <a:pPr lvl="1"/>
            <a:r>
              <a:rPr lang="en-US" altLang="en-US" dirty="0"/>
              <a:t>repeats the correct number of syllables heard</a:t>
            </a:r>
          </a:p>
          <a:p>
            <a:pPr lvl="1"/>
            <a:r>
              <a:rPr lang="en-US" altLang="en-US" dirty="0"/>
              <a:t>discriminates between </a:t>
            </a:r>
            <a:r>
              <a:rPr lang="en-US" altLang="en-US" b="1" dirty="0"/>
              <a:t>loud and soft sounds and durations.</a:t>
            </a:r>
          </a:p>
          <a:p>
            <a:pPr lvl="1"/>
            <a:r>
              <a:rPr lang="en-US" altLang="en-US" dirty="0"/>
              <a:t>discriminates between repeated syllables using a fast rate versus a slow rate</a:t>
            </a:r>
          </a:p>
          <a:p>
            <a:pPr lvl="1"/>
            <a:r>
              <a:rPr lang="en-US" altLang="en-US" dirty="0"/>
              <a:t>discriminates between </a:t>
            </a:r>
            <a:r>
              <a:rPr lang="en-US" altLang="en-US" b="1" dirty="0"/>
              <a:t>high- and low-pitched sounds (whisper / quiet / loud speech)</a:t>
            </a:r>
          </a:p>
          <a:p>
            <a:pPr lvl="1"/>
            <a:r>
              <a:rPr lang="en-US" altLang="en-US" dirty="0"/>
              <a:t>discriminates between sound continuously varying from high to low, and low to high pitch</a:t>
            </a:r>
          </a:p>
          <a:p>
            <a:pPr lvl="1"/>
            <a:r>
              <a:rPr lang="en-US" altLang="en-US" dirty="0"/>
              <a:t>repeats vowel sounds</a:t>
            </a:r>
          </a:p>
          <a:p>
            <a:endParaRPr lang="en-US" dirty="0"/>
          </a:p>
        </p:txBody>
      </p:sp>
      <p:sp>
        <p:nvSpPr>
          <p:cNvPr id="4" name="Slide Number Placeholder 3">
            <a:extLst>
              <a:ext uri="{FF2B5EF4-FFF2-40B4-BE49-F238E27FC236}">
                <a16:creationId xmlns:a16="http://schemas.microsoft.com/office/drawing/2014/main" id="{0AA52A60-0C8B-7345-0808-599A6AEC4E3B}"/>
              </a:ext>
            </a:extLst>
          </p:cNvPr>
          <p:cNvSpPr>
            <a:spLocks noGrp="1"/>
          </p:cNvSpPr>
          <p:nvPr>
            <p:ph type="sldNum" sz="quarter" idx="12"/>
          </p:nvPr>
        </p:nvSpPr>
        <p:spPr/>
        <p:txBody>
          <a:bodyPr/>
          <a:lstStyle/>
          <a:p>
            <a:fld id="{C51C943E-796B-416B-8F40-6FB0B60CFA1E}" type="slidenum">
              <a:rPr lang="en-US" smtClean="0"/>
              <a:t>26</a:t>
            </a:fld>
            <a:endParaRPr lang="en-US" dirty="0"/>
          </a:p>
        </p:txBody>
      </p:sp>
    </p:spTree>
    <p:extLst>
      <p:ext uri="{BB962C8B-B14F-4D97-AF65-F5344CB8AC3E}">
        <p14:creationId xmlns:p14="http://schemas.microsoft.com/office/powerpoint/2010/main" val="3673308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Discrimination activities</a:t>
            </a:r>
          </a:p>
        </p:txBody>
      </p:sp>
      <p:sp>
        <p:nvSpPr>
          <p:cNvPr id="3" name="Content Placeholder 2"/>
          <p:cNvSpPr>
            <a:spLocks noGrp="1"/>
          </p:cNvSpPr>
          <p:nvPr>
            <p:ph idx="1"/>
          </p:nvPr>
        </p:nvSpPr>
        <p:spPr/>
        <p:txBody>
          <a:bodyPr>
            <a:normAutofit/>
          </a:bodyPr>
          <a:lstStyle/>
          <a:p>
            <a:r>
              <a:rPr lang="en-US" dirty="0"/>
              <a:t>Play a game with toy animals (“The cow says ‘moo’; the sheep says</a:t>
            </a:r>
          </a:p>
          <a:p>
            <a:r>
              <a:rPr lang="en-US" dirty="0"/>
              <a:t>‘baaa’ ”)</a:t>
            </a:r>
          </a:p>
          <a:p>
            <a:r>
              <a:rPr lang="en-US" dirty="0"/>
              <a:t>Respond to commands (“Clap your hands”; “Jump!”)</a:t>
            </a:r>
          </a:p>
          <a:p>
            <a:r>
              <a:rPr lang="en-US" dirty="0"/>
              <a:t>Play a </a:t>
            </a:r>
            <a:r>
              <a:rPr lang="en-US" i="1" dirty="0"/>
              <a:t>Same </a:t>
            </a:r>
            <a:r>
              <a:rPr lang="en-US" dirty="0"/>
              <a:t>or </a:t>
            </a:r>
            <a:r>
              <a:rPr lang="en-US" i="1" dirty="0"/>
              <a:t>Different </a:t>
            </a:r>
            <a:r>
              <a:rPr lang="en-US" dirty="0"/>
              <a:t>game (“car car”; “car star”) using pairs of picture cards where the child has to point to the correct illustration</a:t>
            </a:r>
          </a:p>
          <a:p>
            <a:r>
              <a:rPr lang="en-US" dirty="0"/>
              <a:t>Repeat what you hear (“Mamma,” “Papa”)</a:t>
            </a:r>
          </a:p>
        </p:txBody>
      </p:sp>
      <p:sp>
        <p:nvSpPr>
          <p:cNvPr id="4" name="Slide Number Placeholder 3">
            <a:extLst>
              <a:ext uri="{FF2B5EF4-FFF2-40B4-BE49-F238E27FC236}">
                <a16:creationId xmlns:a16="http://schemas.microsoft.com/office/drawing/2014/main" id="{55BFA852-8568-4C07-B82A-EE025BC95C86}"/>
              </a:ext>
            </a:extLst>
          </p:cNvPr>
          <p:cNvSpPr>
            <a:spLocks noGrp="1"/>
          </p:cNvSpPr>
          <p:nvPr>
            <p:ph type="sldNum" sz="quarter" idx="12"/>
          </p:nvPr>
        </p:nvSpPr>
        <p:spPr/>
        <p:txBody>
          <a:bodyPr/>
          <a:lstStyle/>
          <a:p>
            <a:fld id="{C51C943E-796B-416B-8F40-6FB0B60CFA1E}" type="slidenum">
              <a:rPr lang="en-US" smtClean="0"/>
              <a:t>27</a:t>
            </a:fld>
            <a:endParaRPr lang="en-US" dirty="0"/>
          </a:p>
        </p:txBody>
      </p:sp>
    </p:spTree>
    <p:extLst>
      <p:ext uri="{BB962C8B-B14F-4D97-AF65-F5344CB8AC3E}">
        <p14:creationId xmlns:p14="http://schemas.microsoft.com/office/powerpoint/2010/main" val="3962247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2138416" y="798973"/>
            <a:ext cx="8229600" cy="571500"/>
          </a:xfrm>
        </p:spPr>
        <p:txBody>
          <a:bodyPr>
            <a:normAutofit/>
          </a:bodyPr>
          <a:lstStyle/>
          <a:p>
            <a:r>
              <a:rPr lang="en-US" dirty="0"/>
              <a:t>Example: Discrimination objective </a:t>
            </a:r>
          </a:p>
        </p:txBody>
      </p:sp>
      <p:sp>
        <p:nvSpPr>
          <p:cNvPr id="286723" name="Rectangle 3"/>
          <p:cNvSpPr>
            <a:spLocks noGrp="1" noChangeArrowheads="1"/>
          </p:cNvSpPr>
          <p:nvPr>
            <p:ph idx="1"/>
          </p:nvPr>
        </p:nvSpPr>
        <p:spPr/>
        <p:txBody>
          <a:bodyPr/>
          <a:lstStyle/>
          <a:p>
            <a:pPr>
              <a:lnSpc>
                <a:spcPct val="80000"/>
              </a:lnSpc>
            </a:pPr>
            <a:r>
              <a:rPr lang="en-US" dirty="0"/>
              <a:t>Discriminates voice from primary caregiver from other voices (e.g., smiles when mom speaks).</a:t>
            </a:r>
          </a:p>
          <a:p>
            <a:pPr>
              <a:lnSpc>
                <a:spcPct val="80000"/>
              </a:lnSpc>
              <a:buNone/>
            </a:pPr>
            <a:endParaRPr lang="en-US" dirty="0"/>
          </a:p>
          <a:p>
            <a:pPr>
              <a:lnSpc>
                <a:spcPct val="80000"/>
              </a:lnSpc>
            </a:pPr>
            <a:r>
              <a:rPr lang="en-US" dirty="0"/>
              <a:t>Discriminates angry voice from happy voice (e.g., baby cries when angry voice speaks and smiles with happy voice).</a:t>
            </a:r>
          </a:p>
          <a:p>
            <a:pPr>
              <a:lnSpc>
                <a:spcPct val="80000"/>
              </a:lnSpc>
              <a:buNone/>
            </a:pPr>
            <a:endParaRPr lang="en-US" dirty="0"/>
          </a:p>
          <a:p>
            <a:pPr>
              <a:lnSpc>
                <a:spcPct val="80000"/>
              </a:lnSpc>
            </a:pPr>
            <a:r>
              <a:rPr lang="en-US" dirty="0"/>
              <a:t>Discriminates two vocalizations (e.g., baby imitates mom’s “mm”, but does not vocalize at mom’s “babababa”).</a:t>
            </a:r>
          </a:p>
        </p:txBody>
      </p:sp>
      <p:sp>
        <p:nvSpPr>
          <p:cNvPr id="286724" name="Text Box 4"/>
          <p:cNvSpPr txBox="1">
            <a:spLocks noChangeArrowheads="1"/>
          </p:cNvSpPr>
          <p:nvPr/>
        </p:nvSpPr>
        <p:spPr bwMode="auto">
          <a:xfrm>
            <a:off x="6858001" y="6400801"/>
            <a:ext cx="2799997" cy="276999"/>
          </a:xfrm>
          <a:prstGeom prst="rect">
            <a:avLst/>
          </a:prstGeom>
          <a:noFill/>
          <a:ln w="9525">
            <a:noFill/>
            <a:miter lim="800000"/>
            <a:headEnd/>
            <a:tailEnd/>
          </a:ln>
          <a:effectLst/>
        </p:spPr>
        <p:txBody>
          <a:bodyPr wrap="none">
            <a:spAutoFit/>
          </a:bodyPr>
          <a:lstStyle/>
          <a:p>
            <a:r>
              <a:rPr lang="en-US" sz="1200" dirty="0"/>
              <a:t>Taken from: </a:t>
            </a:r>
            <a:r>
              <a:rPr lang="en-US" sz="1200" i="1" dirty="0"/>
              <a:t>Parent-Infant Communication</a:t>
            </a:r>
            <a:endParaRPr lang="en-US" dirty="0"/>
          </a:p>
        </p:txBody>
      </p:sp>
      <p:sp>
        <p:nvSpPr>
          <p:cNvPr id="4" name="Slide Number Placeholder 3">
            <a:extLst>
              <a:ext uri="{FF2B5EF4-FFF2-40B4-BE49-F238E27FC236}">
                <a16:creationId xmlns:a16="http://schemas.microsoft.com/office/drawing/2014/main" id="{F871FB4B-EA67-445C-8030-295A2F6FB8BE}"/>
              </a:ext>
            </a:extLst>
          </p:cNvPr>
          <p:cNvSpPr>
            <a:spLocks noGrp="1"/>
          </p:cNvSpPr>
          <p:nvPr>
            <p:ph type="sldNum" sz="quarter" idx="12"/>
          </p:nvPr>
        </p:nvSpPr>
        <p:spPr/>
        <p:txBody>
          <a:bodyPr/>
          <a:lstStyle/>
          <a:p>
            <a:fld id="{C51C943E-796B-416B-8F40-6FB0B60CFA1E}" type="slidenum">
              <a:rPr lang="en-US" smtClean="0"/>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DF2D-051C-468F-B11F-616F66204445}"/>
              </a:ext>
            </a:extLst>
          </p:cNvPr>
          <p:cNvSpPr>
            <a:spLocks noGrp="1"/>
          </p:cNvSpPr>
          <p:nvPr>
            <p:ph type="title"/>
          </p:nvPr>
        </p:nvSpPr>
        <p:spPr/>
        <p:txBody>
          <a:bodyPr/>
          <a:lstStyle/>
          <a:p>
            <a:r>
              <a:rPr lang="en-US" dirty="0"/>
              <a:t>Auditory Discrimination Hierarchy</a:t>
            </a:r>
          </a:p>
        </p:txBody>
      </p:sp>
      <p:pic>
        <p:nvPicPr>
          <p:cNvPr id="7" name="Content Placeholder 6">
            <a:extLst>
              <a:ext uri="{FF2B5EF4-FFF2-40B4-BE49-F238E27FC236}">
                <a16:creationId xmlns:a16="http://schemas.microsoft.com/office/drawing/2014/main" id="{10A9F1F9-6473-4380-AF78-DA605946E8BE}"/>
              </a:ext>
            </a:extLst>
          </p:cNvPr>
          <p:cNvPicPr>
            <a:picLocks noGrp="1" noChangeAspect="1"/>
          </p:cNvPicPr>
          <p:nvPr>
            <p:ph idx="1"/>
          </p:nvPr>
        </p:nvPicPr>
        <p:blipFill>
          <a:blip r:embed="rId2"/>
          <a:stretch>
            <a:fillRect/>
          </a:stretch>
        </p:blipFill>
        <p:spPr>
          <a:xfrm>
            <a:off x="2620652" y="1412994"/>
            <a:ext cx="6749591" cy="5026823"/>
          </a:xfrm>
        </p:spPr>
      </p:pic>
      <p:sp>
        <p:nvSpPr>
          <p:cNvPr id="8" name="Slide Number Placeholder 7">
            <a:extLst>
              <a:ext uri="{FF2B5EF4-FFF2-40B4-BE49-F238E27FC236}">
                <a16:creationId xmlns:a16="http://schemas.microsoft.com/office/drawing/2014/main" id="{F95E9A3A-BEB2-434F-9E5E-8A1BB001F020}"/>
              </a:ext>
            </a:extLst>
          </p:cNvPr>
          <p:cNvSpPr>
            <a:spLocks noGrp="1"/>
          </p:cNvSpPr>
          <p:nvPr>
            <p:ph type="sldNum" sz="quarter" idx="12"/>
          </p:nvPr>
        </p:nvSpPr>
        <p:spPr/>
        <p:txBody>
          <a:bodyPr/>
          <a:lstStyle/>
          <a:p>
            <a:fld id="{C51C943E-796B-416B-8F40-6FB0B60CFA1E}" type="slidenum">
              <a:rPr lang="en-US" smtClean="0"/>
              <a:t>29</a:t>
            </a:fld>
            <a:endParaRPr lang="en-US" dirty="0"/>
          </a:p>
        </p:txBody>
      </p:sp>
    </p:spTree>
    <p:extLst>
      <p:ext uri="{BB962C8B-B14F-4D97-AF65-F5344CB8AC3E}">
        <p14:creationId xmlns:p14="http://schemas.microsoft.com/office/powerpoint/2010/main" val="3922318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778D6100-71D2-44B0-A74D-260AAFBA3559}"/>
              </a:ext>
            </a:extLst>
          </p:cNvPr>
          <p:cNvSpPr>
            <a:spLocks noGrp="1" noChangeArrowheads="1"/>
          </p:cNvSpPr>
          <p:nvPr>
            <p:ph type="title"/>
          </p:nvPr>
        </p:nvSpPr>
        <p:spPr/>
        <p:txBody>
          <a:bodyPr/>
          <a:lstStyle/>
          <a:p>
            <a:r>
              <a:rPr lang="en-US" altLang="en-US" dirty="0"/>
              <a:t>Identification </a:t>
            </a:r>
          </a:p>
        </p:txBody>
      </p:sp>
      <p:sp>
        <p:nvSpPr>
          <p:cNvPr id="79875" name="Rectangle 3">
            <a:extLst>
              <a:ext uri="{FF2B5EF4-FFF2-40B4-BE49-F238E27FC236}">
                <a16:creationId xmlns:a16="http://schemas.microsoft.com/office/drawing/2014/main" id="{E4DC71C5-155C-4BFA-A577-BC460B96A966}"/>
              </a:ext>
            </a:extLst>
          </p:cNvPr>
          <p:cNvSpPr>
            <a:spLocks noGrp="1" noChangeArrowheads="1"/>
          </p:cNvSpPr>
          <p:nvPr>
            <p:ph idx="1"/>
          </p:nvPr>
        </p:nvSpPr>
        <p:spPr>
          <a:xfrm>
            <a:off x="2209800" y="2384980"/>
            <a:ext cx="7772400" cy="4244419"/>
          </a:xfrm>
        </p:spPr>
        <p:txBody>
          <a:bodyPr/>
          <a:lstStyle/>
          <a:p>
            <a:pPr>
              <a:lnSpc>
                <a:spcPct val="85000"/>
              </a:lnSpc>
            </a:pPr>
            <a:r>
              <a:rPr lang="en-US" altLang="en-US" dirty="0"/>
              <a:t>Ability to </a:t>
            </a:r>
            <a:r>
              <a:rPr lang="en-US" altLang="en-US" b="1" dirty="0"/>
              <a:t>repeat, point to, or write the speech stimulus heard</a:t>
            </a:r>
          </a:p>
          <a:p>
            <a:pPr lvl="1">
              <a:lnSpc>
                <a:spcPct val="85000"/>
              </a:lnSpc>
            </a:pPr>
            <a:endParaRPr lang="en-US" altLang="en-US" dirty="0"/>
          </a:p>
        </p:txBody>
      </p:sp>
      <p:sp>
        <p:nvSpPr>
          <p:cNvPr id="79876" name="Text Box 4">
            <a:extLst>
              <a:ext uri="{FF2B5EF4-FFF2-40B4-BE49-F238E27FC236}">
                <a16:creationId xmlns:a16="http://schemas.microsoft.com/office/drawing/2014/main" id="{5F85EB61-D237-4DE8-9536-68A664FDAAE0}"/>
              </a:ext>
            </a:extLst>
          </p:cNvPr>
          <p:cNvSpPr txBox="1">
            <a:spLocks noChangeArrowheads="1"/>
          </p:cNvSpPr>
          <p:nvPr/>
        </p:nvSpPr>
        <p:spPr bwMode="auto">
          <a:xfrm>
            <a:off x="6816726" y="6583364"/>
            <a:ext cx="347556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200" dirty="0"/>
              <a:t>Taken from: Sandie Bass-Ringdahl, University of Iowa</a:t>
            </a:r>
            <a:endParaRPr lang="en-US" altLang="en-US" dirty="0"/>
          </a:p>
        </p:txBody>
      </p:sp>
      <p:sp>
        <p:nvSpPr>
          <p:cNvPr id="2" name="Slide Number Placeholder 1">
            <a:extLst>
              <a:ext uri="{FF2B5EF4-FFF2-40B4-BE49-F238E27FC236}">
                <a16:creationId xmlns:a16="http://schemas.microsoft.com/office/drawing/2014/main" id="{567C9D29-6A98-40B5-85D5-1AAA3F124BF8}"/>
              </a:ext>
            </a:extLst>
          </p:cNvPr>
          <p:cNvSpPr>
            <a:spLocks noGrp="1"/>
          </p:cNvSpPr>
          <p:nvPr>
            <p:ph type="sldNum" sz="quarter" idx="12"/>
          </p:nvPr>
        </p:nvSpPr>
        <p:spPr/>
        <p:txBody>
          <a:bodyPr/>
          <a:lstStyle/>
          <a:p>
            <a:fld id="{C51C943E-796B-416B-8F40-6FB0B60CFA1E}" type="slidenum">
              <a:rPr lang="en-US" smtClean="0"/>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BC0F-B38D-B0C7-7F8C-73F95C65A9E2}"/>
              </a:ext>
            </a:extLst>
          </p:cNvPr>
          <p:cNvSpPr>
            <a:spLocks noGrp="1"/>
          </p:cNvSpPr>
          <p:nvPr>
            <p:ph type="title"/>
          </p:nvPr>
        </p:nvSpPr>
        <p:spPr/>
        <p:txBody>
          <a:bodyPr/>
          <a:lstStyle/>
          <a:p>
            <a:r>
              <a:rPr lang="en-US" dirty="0"/>
              <a:t>Examples of Identification Tasks</a:t>
            </a:r>
          </a:p>
        </p:txBody>
      </p:sp>
      <p:sp>
        <p:nvSpPr>
          <p:cNvPr id="3" name="Content Placeholder 2">
            <a:extLst>
              <a:ext uri="{FF2B5EF4-FFF2-40B4-BE49-F238E27FC236}">
                <a16:creationId xmlns:a16="http://schemas.microsoft.com/office/drawing/2014/main" id="{15A31604-54A4-18CF-5E6E-ABF9A1A205C6}"/>
              </a:ext>
            </a:extLst>
          </p:cNvPr>
          <p:cNvSpPr>
            <a:spLocks noGrp="1"/>
          </p:cNvSpPr>
          <p:nvPr>
            <p:ph idx="1"/>
          </p:nvPr>
        </p:nvSpPr>
        <p:spPr/>
        <p:txBody>
          <a:bodyPr/>
          <a:lstStyle/>
          <a:p>
            <a:pPr lvl="1">
              <a:lnSpc>
                <a:spcPct val="85000"/>
              </a:lnSpc>
            </a:pPr>
            <a:r>
              <a:rPr lang="en-US" altLang="en-US" sz="2000" dirty="0"/>
              <a:t>words varying in number of syllables</a:t>
            </a:r>
          </a:p>
          <a:p>
            <a:pPr lvl="2">
              <a:lnSpc>
                <a:spcPct val="85000"/>
              </a:lnSpc>
            </a:pPr>
            <a:r>
              <a:rPr lang="en-US" altLang="en-US" dirty="0"/>
              <a:t>hat vs. ice cream cone</a:t>
            </a:r>
          </a:p>
          <a:p>
            <a:pPr lvl="1">
              <a:lnSpc>
                <a:spcPct val="85000"/>
              </a:lnSpc>
            </a:pPr>
            <a:r>
              <a:rPr lang="en-US" altLang="en-US" sz="2000" dirty="0"/>
              <a:t>one syllable words varying in </a:t>
            </a:r>
            <a:r>
              <a:rPr lang="en-US" altLang="en-US" sz="2000" b="1" dirty="0"/>
              <a:t>vowels and consonants</a:t>
            </a:r>
            <a:r>
              <a:rPr lang="en-US" altLang="en-US" sz="2000" dirty="0"/>
              <a:t>.</a:t>
            </a:r>
          </a:p>
          <a:p>
            <a:pPr lvl="2">
              <a:lnSpc>
                <a:spcPct val="85000"/>
              </a:lnSpc>
            </a:pPr>
            <a:r>
              <a:rPr lang="en-US" altLang="en-US" dirty="0"/>
              <a:t>bat vs. fish</a:t>
            </a:r>
          </a:p>
          <a:p>
            <a:pPr lvl="1">
              <a:lnSpc>
                <a:spcPct val="85000"/>
              </a:lnSpc>
            </a:pPr>
            <a:r>
              <a:rPr lang="en-US" altLang="en-US" sz="2000" dirty="0"/>
              <a:t>stereotypic messages (familiar expressions and directions)</a:t>
            </a:r>
          </a:p>
          <a:p>
            <a:pPr lvl="1">
              <a:lnSpc>
                <a:spcPct val="85000"/>
              </a:lnSpc>
            </a:pPr>
            <a:r>
              <a:rPr lang="en-US" altLang="en-US" sz="2000" dirty="0"/>
              <a:t>words with identical consonants and different vowels</a:t>
            </a:r>
          </a:p>
          <a:p>
            <a:pPr lvl="2">
              <a:lnSpc>
                <a:spcPct val="85000"/>
              </a:lnSpc>
            </a:pPr>
            <a:r>
              <a:rPr lang="en-US" altLang="en-US" dirty="0"/>
              <a:t>book vs. bear</a:t>
            </a:r>
          </a:p>
          <a:p>
            <a:pPr lvl="1">
              <a:lnSpc>
                <a:spcPct val="85000"/>
              </a:lnSpc>
            </a:pPr>
            <a:r>
              <a:rPr lang="en-US" altLang="en-US" sz="2000" dirty="0"/>
              <a:t>words with identical vowels and consonants differing </a:t>
            </a:r>
            <a:r>
              <a:rPr lang="en-US" altLang="en-US" sz="2000" b="1" dirty="0"/>
              <a:t>in place, manner, and/or voicing</a:t>
            </a:r>
          </a:p>
          <a:p>
            <a:pPr lvl="2">
              <a:lnSpc>
                <a:spcPct val="85000"/>
              </a:lnSpc>
            </a:pPr>
            <a:r>
              <a:rPr lang="en-US" altLang="en-US" dirty="0"/>
              <a:t>dog vs. fog</a:t>
            </a:r>
            <a:endParaRPr lang="en-US" dirty="0"/>
          </a:p>
        </p:txBody>
      </p:sp>
      <p:sp>
        <p:nvSpPr>
          <p:cNvPr id="4" name="Slide Number Placeholder 3">
            <a:extLst>
              <a:ext uri="{FF2B5EF4-FFF2-40B4-BE49-F238E27FC236}">
                <a16:creationId xmlns:a16="http://schemas.microsoft.com/office/drawing/2014/main" id="{72B44B61-19CC-F1C3-AC6A-04ADE87F7B2E}"/>
              </a:ext>
            </a:extLst>
          </p:cNvPr>
          <p:cNvSpPr>
            <a:spLocks noGrp="1"/>
          </p:cNvSpPr>
          <p:nvPr>
            <p:ph type="sldNum" sz="quarter" idx="12"/>
          </p:nvPr>
        </p:nvSpPr>
        <p:spPr/>
        <p:txBody>
          <a:bodyPr/>
          <a:lstStyle/>
          <a:p>
            <a:fld id="{C51C943E-796B-416B-8F40-6FB0B60CFA1E}" type="slidenum">
              <a:rPr lang="en-US" smtClean="0"/>
              <a:t>31</a:t>
            </a:fld>
            <a:endParaRPr lang="en-US" dirty="0"/>
          </a:p>
        </p:txBody>
      </p:sp>
    </p:spTree>
    <p:extLst>
      <p:ext uri="{BB962C8B-B14F-4D97-AF65-F5344CB8AC3E}">
        <p14:creationId xmlns:p14="http://schemas.microsoft.com/office/powerpoint/2010/main" val="2114345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p:txBody>
          <a:bodyPr>
            <a:normAutofit/>
          </a:bodyPr>
          <a:lstStyle/>
          <a:p>
            <a:r>
              <a:rPr lang="en-US" dirty="0"/>
              <a:t>Example: Identification objective </a:t>
            </a:r>
          </a:p>
        </p:txBody>
      </p:sp>
      <p:sp>
        <p:nvSpPr>
          <p:cNvPr id="288771" name="Rectangle 3"/>
          <p:cNvSpPr>
            <a:spLocks noGrp="1" noChangeArrowheads="1"/>
          </p:cNvSpPr>
          <p:nvPr>
            <p:ph idx="1"/>
          </p:nvPr>
        </p:nvSpPr>
        <p:spPr/>
        <p:txBody>
          <a:bodyPr>
            <a:normAutofit/>
          </a:bodyPr>
          <a:lstStyle/>
          <a:p>
            <a:r>
              <a:rPr lang="en-US" dirty="0"/>
              <a:t>Recognizes an adult-produced animal sound and associates sound with toy animal.</a:t>
            </a:r>
          </a:p>
          <a:p>
            <a:pPr>
              <a:buNone/>
            </a:pPr>
            <a:endParaRPr lang="en-US" dirty="0"/>
          </a:p>
          <a:p>
            <a:r>
              <a:rPr lang="en-US" dirty="0"/>
              <a:t>Identifies 3 loud instrument sounds: drum, guitar, and bells.</a:t>
            </a:r>
          </a:p>
          <a:p>
            <a:pPr>
              <a:buNone/>
            </a:pPr>
            <a:endParaRPr lang="en-US" dirty="0"/>
          </a:p>
          <a:p>
            <a:r>
              <a:rPr lang="en-US" dirty="0"/>
              <a:t>Recognizes 10 words that label common objects (e.g. bottle, diaper, ball).</a:t>
            </a:r>
          </a:p>
        </p:txBody>
      </p:sp>
      <p:sp>
        <p:nvSpPr>
          <p:cNvPr id="288772" name="Text Box 4"/>
          <p:cNvSpPr txBox="1">
            <a:spLocks noChangeArrowheads="1"/>
          </p:cNvSpPr>
          <p:nvPr/>
        </p:nvSpPr>
        <p:spPr bwMode="auto">
          <a:xfrm>
            <a:off x="6629401" y="6324601"/>
            <a:ext cx="2799997" cy="276999"/>
          </a:xfrm>
          <a:prstGeom prst="rect">
            <a:avLst/>
          </a:prstGeom>
          <a:noFill/>
          <a:ln w="9525">
            <a:noFill/>
            <a:miter lim="800000"/>
            <a:headEnd/>
            <a:tailEnd/>
          </a:ln>
          <a:effectLst/>
        </p:spPr>
        <p:txBody>
          <a:bodyPr wrap="none">
            <a:spAutoFit/>
          </a:bodyPr>
          <a:lstStyle/>
          <a:p>
            <a:r>
              <a:rPr lang="en-US" sz="1200" dirty="0"/>
              <a:t>Taken from: </a:t>
            </a:r>
            <a:r>
              <a:rPr lang="en-US" sz="1200" i="1" dirty="0"/>
              <a:t>Parent-Infant Communication</a:t>
            </a:r>
            <a:endParaRPr lang="en-US" dirty="0"/>
          </a:p>
        </p:txBody>
      </p:sp>
      <p:sp>
        <p:nvSpPr>
          <p:cNvPr id="2" name="Slide Number Placeholder 1">
            <a:extLst>
              <a:ext uri="{FF2B5EF4-FFF2-40B4-BE49-F238E27FC236}">
                <a16:creationId xmlns:a16="http://schemas.microsoft.com/office/drawing/2014/main" id="{A0ABECD2-1D8B-4848-85A3-D83477B19761}"/>
              </a:ext>
            </a:extLst>
          </p:cNvPr>
          <p:cNvSpPr>
            <a:spLocks noGrp="1"/>
          </p:cNvSpPr>
          <p:nvPr>
            <p:ph type="sldNum" sz="quarter" idx="12"/>
          </p:nvPr>
        </p:nvSpPr>
        <p:spPr/>
        <p:txBody>
          <a:bodyPr/>
          <a:lstStyle/>
          <a:p>
            <a:fld id="{C51C943E-796B-416B-8F40-6FB0B60CFA1E}" type="slidenum">
              <a:rPr lang="en-US" smtClean="0"/>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a:t>
            </a:r>
          </a:p>
        </p:txBody>
      </p:sp>
      <p:pic>
        <p:nvPicPr>
          <p:cNvPr id="5" name="Content Placeholder 4"/>
          <p:cNvPicPr>
            <a:picLocks noGrp="1" noChangeAspect="1"/>
          </p:cNvPicPr>
          <p:nvPr>
            <p:ph sz="half" idx="1"/>
          </p:nvPr>
        </p:nvPicPr>
        <p:blipFill>
          <a:blip r:embed="rId2"/>
          <a:stretch>
            <a:fillRect/>
          </a:stretch>
        </p:blipFill>
        <p:spPr>
          <a:xfrm>
            <a:off x="1238250" y="2121542"/>
            <a:ext cx="3886200" cy="2614916"/>
          </a:xfrm>
          <a:prstGeom prst="rect">
            <a:avLst/>
          </a:prstGeom>
        </p:spPr>
      </p:pic>
      <p:sp>
        <p:nvSpPr>
          <p:cNvPr id="4" name="Content Placeholder 3"/>
          <p:cNvSpPr>
            <a:spLocks noGrp="1"/>
          </p:cNvSpPr>
          <p:nvPr>
            <p:ph sz="half" idx="2"/>
          </p:nvPr>
        </p:nvSpPr>
        <p:spPr/>
        <p:txBody>
          <a:bodyPr>
            <a:normAutofit/>
          </a:bodyPr>
          <a:lstStyle/>
          <a:p>
            <a:r>
              <a:rPr lang="en-US" dirty="0"/>
              <a:t>Play the game </a:t>
            </a:r>
            <a:r>
              <a:rPr lang="en-US" i="1" dirty="0"/>
              <a:t>Candy Land </a:t>
            </a:r>
            <a:r>
              <a:rPr lang="en-US" dirty="0"/>
              <a:t>and listen for the names of the colors</a:t>
            </a:r>
          </a:p>
          <a:p>
            <a:r>
              <a:rPr lang="en-US" dirty="0"/>
              <a:t>Play with sets of postcards or stickers (“Show me the cat”)</a:t>
            </a:r>
          </a:p>
          <a:p>
            <a:r>
              <a:rPr lang="en-US" dirty="0"/>
              <a:t>Play </a:t>
            </a:r>
            <a:r>
              <a:rPr lang="en-US" i="1" dirty="0"/>
              <a:t>Go Fish </a:t>
            </a:r>
            <a:r>
              <a:rPr lang="en-US" dirty="0"/>
              <a:t>with cards (“Give me your sevens”; “Give me your twos”)</a:t>
            </a:r>
          </a:p>
        </p:txBody>
      </p:sp>
      <p:sp>
        <p:nvSpPr>
          <p:cNvPr id="3" name="Slide Number Placeholder 2">
            <a:extLst>
              <a:ext uri="{FF2B5EF4-FFF2-40B4-BE49-F238E27FC236}">
                <a16:creationId xmlns:a16="http://schemas.microsoft.com/office/drawing/2014/main" id="{6D27E9D4-D849-4818-8841-C25FA98C7B80}"/>
              </a:ext>
            </a:extLst>
          </p:cNvPr>
          <p:cNvSpPr>
            <a:spLocks noGrp="1"/>
          </p:cNvSpPr>
          <p:nvPr>
            <p:ph type="sldNum" sz="quarter" idx="12"/>
          </p:nvPr>
        </p:nvSpPr>
        <p:spPr/>
        <p:txBody>
          <a:bodyPr/>
          <a:lstStyle/>
          <a:p>
            <a:fld id="{C51C943E-796B-416B-8F40-6FB0B60CFA1E}" type="slidenum">
              <a:rPr lang="en-US" smtClean="0"/>
              <a:t>33</a:t>
            </a:fld>
            <a:endParaRPr lang="en-US" dirty="0"/>
          </a:p>
        </p:txBody>
      </p:sp>
    </p:spTree>
    <p:extLst>
      <p:ext uri="{BB962C8B-B14F-4D97-AF65-F5344CB8AC3E}">
        <p14:creationId xmlns:p14="http://schemas.microsoft.com/office/powerpoint/2010/main" val="3110988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787ADC3-F1BF-482A-BFF6-45F283A1957D}"/>
              </a:ext>
            </a:extLst>
          </p:cNvPr>
          <p:cNvSpPr>
            <a:spLocks noGrp="1" noChangeArrowheads="1"/>
          </p:cNvSpPr>
          <p:nvPr>
            <p:ph type="title"/>
          </p:nvPr>
        </p:nvSpPr>
        <p:spPr/>
        <p:txBody>
          <a:bodyPr/>
          <a:lstStyle/>
          <a:p>
            <a:r>
              <a:rPr lang="en-US" altLang="en-US" dirty="0"/>
              <a:t>Comprehension </a:t>
            </a:r>
          </a:p>
        </p:txBody>
      </p:sp>
      <p:sp>
        <p:nvSpPr>
          <p:cNvPr id="80899" name="Rectangle 3">
            <a:extLst>
              <a:ext uri="{FF2B5EF4-FFF2-40B4-BE49-F238E27FC236}">
                <a16:creationId xmlns:a16="http://schemas.microsoft.com/office/drawing/2014/main" id="{9D615734-4A65-438D-80C0-CB3119AC07A6}"/>
              </a:ext>
            </a:extLst>
          </p:cNvPr>
          <p:cNvSpPr>
            <a:spLocks noGrp="1" noChangeArrowheads="1"/>
          </p:cNvSpPr>
          <p:nvPr>
            <p:ph idx="1"/>
          </p:nvPr>
        </p:nvSpPr>
        <p:spPr/>
        <p:txBody>
          <a:bodyPr>
            <a:normAutofit/>
          </a:bodyPr>
          <a:lstStyle/>
          <a:p>
            <a:r>
              <a:rPr lang="en-US" altLang="en-US" dirty="0"/>
              <a:t>Comprehension of sounds refers to the ability to understand the meaning of speech by</a:t>
            </a:r>
            <a:r>
              <a:rPr lang="en-US" altLang="en-US" b="1" dirty="0"/>
              <a:t> answering questions, following directions</a:t>
            </a:r>
            <a:r>
              <a:rPr lang="en-US" altLang="en-US" dirty="0"/>
              <a:t>, or participating in a conversation.  </a:t>
            </a:r>
          </a:p>
          <a:p>
            <a:pPr lvl="1"/>
            <a:r>
              <a:rPr lang="en-US" altLang="en-US" dirty="0"/>
              <a:t>The child’s response must be qualitatively different than the stimuli presented!</a:t>
            </a:r>
            <a:endParaRPr lang="en-US" altLang="en-US" sz="2800" dirty="0"/>
          </a:p>
          <a:p>
            <a:pPr marL="228600" lvl="1"/>
            <a:r>
              <a:rPr lang="en-US" altLang="en-US" sz="2000" dirty="0"/>
              <a:t>This level requires that the person have a certain degree of </a:t>
            </a:r>
            <a:r>
              <a:rPr lang="en-US" altLang="en-US" sz="2000" b="1" dirty="0"/>
              <a:t>syntactic and semantic </a:t>
            </a:r>
            <a:r>
              <a:rPr lang="en-US" altLang="en-US" sz="2000" dirty="0"/>
              <a:t>language development</a:t>
            </a:r>
          </a:p>
          <a:p>
            <a:pPr lvl="1"/>
            <a:endParaRPr lang="en-US" altLang="en-US" dirty="0"/>
          </a:p>
        </p:txBody>
      </p:sp>
      <p:sp>
        <p:nvSpPr>
          <p:cNvPr id="80900" name="Text Box 4">
            <a:extLst>
              <a:ext uri="{FF2B5EF4-FFF2-40B4-BE49-F238E27FC236}">
                <a16:creationId xmlns:a16="http://schemas.microsoft.com/office/drawing/2014/main" id="{925203E4-CFF8-4B23-886C-FF3CD3CECD65}"/>
              </a:ext>
            </a:extLst>
          </p:cNvPr>
          <p:cNvSpPr txBox="1">
            <a:spLocks noChangeArrowheads="1"/>
          </p:cNvSpPr>
          <p:nvPr/>
        </p:nvSpPr>
        <p:spPr bwMode="auto">
          <a:xfrm>
            <a:off x="6816726" y="6583364"/>
            <a:ext cx="347556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1200" dirty="0"/>
              <a:t>Taken from: Sandie Bass-Ringdahl, University of Iowa</a:t>
            </a:r>
            <a:endParaRPr lang="en-US" altLang="en-US" dirty="0"/>
          </a:p>
        </p:txBody>
      </p:sp>
      <p:sp>
        <p:nvSpPr>
          <p:cNvPr id="2" name="Slide Number Placeholder 1">
            <a:extLst>
              <a:ext uri="{FF2B5EF4-FFF2-40B4-BE49-F238E27FC236}">
                <a16:creationId xmlns:a16="http://schemas.microsoft.com/office/drawing/2014/main" id="{1493B3CF-AC71-4AE8-87EF-035EDDF727B3}"/>
              </a:ext>
            </a:extLst>
          </p:cNvPr>
          <p:cNvSpPr>
            <a:spLocks noGrp="1"/>
          </p:cNvSpPr>
          <p:nvPr>
            <p:ph type="sldNum" sz="quarter" idx="12"/>
          </p:nvPr>
        </p:nvSpPr>
        <p:spPr/>
        <p:txBody>
          <a:bodyPr/>
          <a:lstStyle/>
          <a:p>
            <a:fld id="{C51C943E-796B-416B-8F40-6FB0B60CFA1E}" type="slidenum">
              <a:rPr lang="en-US" smtClean="0"/>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Examples of Comprehension Tasks </a:t>
            </a:r>
          </a:p>
        </p:txBody>
      </p:sp>
      <p:sp>
        <p:nvSpPr>
          <p:cNvPr id="18435" name="Content Placeholder 2"/>
          <p:cNvSpPr>
            <a:spLocks noGrp="1"/>
          </p:cNvSpPr>
          <p:nvPr>
            <p:ph idx="1"/>
          </p:nvPr>
        </p:nvSpPr>
        <p:spPr>
          <a:xfrm>
            <a:off x="650449" y="1989056"/>
            <a:ext cx="9746089" cy="4640344"/>
          </a:xfrm>
        </p:spPr>
        <p:txBody>
          <a:bodyPr>
            <a:normAutofit fontScale="62500" lnSpcReduction="20000"/>
          </a:bodyPr>
          <a:lstStyle/>
          <a:p>
            <a:pPr lvl="1"/>
            <a:r>
              <a:rPr lang="en-US" sz="3200" dirty="0"/>
              <a:t>Auditory sequencing</a:t>
            </a:r>
          </a:p>
          <a:p>
            <a:pPr lvl="2"/>
            <a:r>
              <a:rPr lang="en-US" sz="2600" dirty="0"/>
              <a:t>familiar expressions</a:t>
            </a:r>
          </a:p>
          <a:p>
            <a:pPr lvl="2"/>
            <a:r>
              <a:rPr lang="en-US" sz="2600" dirty="0"/>
              <a:t>follow single directions</a:t>
            </a:r>
          </a:p>
          <a:p>
            <a:pPr lvl="2"/>
            <a:r>
              <a:rPr lang="en-US" sz="2600" dirty="0"/>
              <a:t>follow classroom directions</a:t>
            </a:r>
          </a:p>
          <a:p>
            <a:pPr lvl="2"/>
            <a:r>
              <a:rPr lang="en-US" sz="2600" dirty="0"/>
              <a:t>follow multi-element directions</a:t>
            </a:r>
          </a:p>
          <a:p>
            <a:pPr lvl="1"/>
            <a:r>
              <a:rPr lang="en-US" sz="3200" dirty="0"/>
              <a:t>Structured listening set</a:t>
            </a:r>
          </a:p>
          <a:p>
            <a:pPr lvl="2"/>
            <a:r>
              <a:rPr lang="en-US" sz="2600" dirty="0"/>
              <a:t>recall details of a story</a:t>
            </a:r>
          </a:p>
          <a:p>
            <a:pPr lvl="2"/>
            <a:r>
              <a:rPr lang="en-US" sz="2600" dirty="0"/>
              <a:t>understand the main idea of a lesson or complex story</a:t>
            </a:r>
          </a:p>
          <a:p>
            <a:pPr lvl="1"/>
            <a:r>
              <a:rPr lang="en-US" sz="3200" dirty="0"/>
              <a:t>Conversation</a:t>
            </a:r>
          </a:p>
          <a:p>
            <a:pPr lvl="2"/>
            <a:r>
              <a:rPr lang="en-US" sz="2600" dirty="0"/>
              <a:t>answer questions requiring comprehension of the main idea</a:t>
            </a:r>
          </a:p>
          <a:p>
            <a:pPr lvl="2"/>
            <a:r>
              <a:rPr lang="en-US" sz="2600" dirty="0"/>
              <a:t>paraphrase remarks of another</a:t>
            </a:r>
          </a:p>
          <a:p>
            <a:pPr lvl="2"/>
            <a:r>
              <a:rPr lang="en-US" sz="2600" dirty="0"/>
              <a:t>offer spontaneous relevant remarks</a:t>
            </a:r>
          </a:p>
          <a:p>
            <a:pPr>
              <a:buFont typeface="Wingdings" pitchFamily="2" charset="2"/>
              <a:buNone/>
            </a:pPr>
            <a:endParaRPr lang="en-US" sz="900" dirty="0"/>
          </a:p>
          <a:p>
            <a:pPr>
              <a:buFont typeface="Wingdings" pitchFamily="2" charset="2"/>
              <a:buNone/>
            </a:pPr>
            <a:endParaRPr lang="en-US" sz="900" dirty="0"/>
          </a:p>
          <a:p>
            <a:pPr>
              <a:buFont typeface="Wingdings" pitchFamily="2" charset="2"/>
              <a:buNone/>
            </a:pPr>
            <a:r>
              <a:rPr lang="en-US" sz="900" dirty="0"/>
              <a:t>						Taken from: Sandie Bass-Ringdahl, University of Iowa</a:t>
            </a:r>
          </a:p>
          <a:p>
            <a:endParaRPr lang="en-US" dirty="0"/>
          </a:p>
          <a:p>
            <a:endParaRPr lang="en-US" dirty="0"/>
          </a:p>
        </p:txBody>
      </p:sp>
      <p:sp>
        <p:nvSpPr>
          <p:cNvPr id="2" name="Slide Number Placeholder 1">
            <a:extLst>
              <a:ext uri="{FF2B5EF4-FFF2-40B4-BE49-F238E27FC236}">
                <a16:creationId xmlns:a16="http://schemas.microsoft.com/office/drawing/2014/main" id="{6B422180-89A6-4A08-8C23-35481783B23E}"/>
              </a:ext>
            </a:extLst>
          </p:cNvPr>
          <p:cNvSpPr>
            <a:spLocks noGrp="1"/>
          </p:cNvSpPr>
          <p:nvPr>
            <p:ph type="sldNum" sz="quarter" idx="12"/>
          </p:nvPr>
        </p:nvSpPr>
        <p:spPr/>
        <p:txBody>
          <a:bodyPr/>
          <a:lstStyle/>
          <a:p>
            <a:fld id="{C51C943E-796B-416B-8F40-6FB0B60CFA1E}" type="slidenum">
              <a:rPr lang="en-US" smtClean="0"/>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xfrm>
            <a:off x="1385740" y="876692"/>
            <a:ext cx="8977460" cy="503578"/>
          </a:xfrm>
        </p:spPr>
        <p:txBody>
          <a:bodyPr>
            <a:normAutofit fontScale="90000"/>
          </a:bodyPr>
          <a:lstStyle/>
          <a:p>
            <a:r>
              <a:rPr lang="en-US" dirty="0"/>
              <a:t>Example: Comprehension objective </a:t>
            </a:r>
          </a:p>
        </p:txBody>
      </p:sp>
      <p:sp>
        <p:nvSpPr>
          <p:cNvPr id="290819" name="Rectangle 3"/>
          <p:cNvSpPr>
            <a:spLocks noGrp="1" noChangeArrowheads="1"/>
          </p:cNvSpPr>
          <p:nvPr>
            <p:ph idx="1"/>
          </p:nvPr>
        </p:nvSpPr>
        <p:spPr>
          <a:xfrm>
            <a:off x="1121790" y="2479248"/>
            <a:ext cx="8860410" cy="3997751"/>
          </a:xfrm>
        </p:spPr>
        <p:txBody>
          <a:bodyPr/>
          <a:lstStyle/>
          <a:p>
            <a:pPr>
              <a:lnSpc>
                <a:spcPct val="80000"/>
              </a:lnSpc>
            </a:pPr>
            <a:r>
              <a:rPr lang="en-US" dirty="0"/>
              <a:t>Demonstrates comprehension of 2 phrases through audition alone (e.g., Do you want up?).</a:t>
            </a:r>
          </a:p>
          <a:p>
            <a:pPr>
              <a:lnSpc>
                <a:spcPct val="80000"/>
              </a:lnSpc>
            </a:pPr>
            <a:r>
              <a:rPr lang="en-US" dirty="0"/>
              <a:t>Comprehends increasingly complex requests (e.g., bring me your socks and shoes).</a:t>
            </a:r>
          </a:p>
          <a:p>
            <a:pPr>
              <a:lnSpc>
                <a:spcPct val="80000"/>
              </a:lnSpc>
            </a:pPr>
            <a:r>
              <a:rPr lang="en-US" dirty="0"/>
              <a:t>Comprehends and responds appropriately to sentences in which possessive nouns or pronouns are contrasted (e.g., Where are you eyes? vs. Where are mommy’s eyes?).</a:t>
            </a:r>
          </a:p>
          <a:p>
            <a:pPr>
              <a:lnSpc>
                <a:spcPct val="80000"/>
              </a:lnSpc>
            </a:pPr>
            <a:r>
              <a:rPr lang="en-US" dirty="0"/>
              <a:t>Comprehends the meaning of 3, loud environmental sounds (e.g., smoke alarm, doorbell, car horn).</a:t>
            </a:r>
          </a:p>
        </p:txBody>
      </p:sp>
      <p:sp>
        <p:nvSpPr>
          <p:cNvPr id="290820" name="Text Box 4"/>
          <p:cNvSpPr txBox="1">
            <a:spLocks noChangeArrowheads="1"/>
          </p:cNvSpPr>
          <p:nvPr/>
        </p:nvSpPr>
        <p:spPr bwMode="auto">
          <a:xfrm>
            <a:off x="6781801" y="6583363"/>
            <a:ext cx="2799997" cy="276999"/>
          </a:xfrm>
          <a:prstGeom prst="rect">
            <a:avLst/>
          </a:prstGeom>
          <a:noFill/>
          <a:ln w="9525">
            <a:noFill/>
            <a:miter lim="800000"/>
            <a:headEnd/>
            <a:tailEnd/>
          </a:ln>
          <a:effectLst/>
        </p:spPr>
        <p:txBody>
          <a:bodyPr wrap="none">
            <a:spAutoFit/>
          </a:bodyPr>
          <a:lstStyle/>
          <a:p>
            <a:r>
              <a:rPr lang="en-US" sz="1200" dirty="0"/>
              <a:t>Taken from: </a:t>
            </a:r>
            <a:r>
              <a:rPr lang="en-US" sz="1200" i="1" dirty="0"/>
              <a:t>Parent-Infant Communication</a:t>
            </a:r>
            <a:endParaRPr lang="en-US" dirty="0"/>
          </a:p>
        </p:txBody>
      </p:sp>
      <p:sp>
        <p:nvSpPr>
          <p:cNvPr id="2" name="Slide Number Placeholder 1">
            <a:extLst>
              <a:ext uri="{FF2B5EF4-FFF2-40B4-BE49-F238E27FC236}">
                <a16:creationId xmlns:a16="http://schemas.microsoft.com/office/drawing/2014/main" id="{31C7E0BD-314F-477E-A36E-274A792B745B}"/>
              </a:ext>
            </a:extLst>
          </p:cNvPr>
          <p:cNvSpPr>
            <a:spLocks noGrp="1"/>
          </p:cNvSpPr>
          <p:nvPr>
            <p:ph type="sldNum" sz="quarter" idx="12"/>
          </p:nvPr>
        </p:nvSpPr>
        <p:spPr/>
        <p:txBody>
          <a:bodyPr/>
          <a:lstStyle/>
          <a:p>
            <a:fld id="{C51C943E-796B-416B-8F40-6FB0B60CFA1E}"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Illustrative formal auditory training lesson plan</a:t>
            </a:r>
          </a:p>
        </p:txBody>
      </p:sp>
      <p:sp>
        <p:nvSpPr>
          <p:cNvPr id="3" name="Content Placeholder 2"/>
          <p:cNvSpPr>
            <a:spLocks noGrp="1"/>
          </p:cNvSpPr>
          <p:nvPr>
            <p:ph sz="half" idx="1"/>
          </p:nvPr>
        </p:nvSpPr>
        <p:spPr>
          <a:xfrm>
            <a:off x="1447331" y="1864194"/>
            <a:ext cx="4645152" cy="4188917"/>
          </a:xfrm>
        </p:spPr>
        <p:txBody>
          <a:bodyPr>
            <a:noAutofit/>
          </a:bodyPr>
          <a:lstStyle/>
          <a:p>
            <a:r>
              <a:rPr lang="en-US" sz="1800" b="1" i="1" dirty="0"/>
              <a:t>Title: </a:t>
            </a:r>
            <a:r>
              <a:rPr lang="en-US" sz="1800" dirty="0"/>
              <a:t>Snake and Ice Cream Game</a:t>
            </a:r>
          </a:p>
          <a:p>
            <a:r>
              <a:rPr lang="en-US" sz="1800" b="1" i="1" dirty="0"/>
              <a:t>Goal: </a:t>
            </a:r>
            <a:r>
              <a:rPr lang="en-US" sz="1800" dirty="0"/>
              <a:t>Discrimination</a:t>
            </a:r>
          </a:p>
          <a:p>
            <a:r>
              <a:rPr lang="en-US" sz="1800" b="1" i="1" dirty="0"/>
              <a:t>Objective: </a:t>
            </a:r>
            <a:r>
              <a:rPr lang="en-US" sz="1800" dirty="0"/>
              <a:t>The student will discriminate a nasal consonant versus non-nasal unvoiced consonant that differs in place of production.</a:t>
            </a:r>
          </a:p>
          <a:p>
            <a:pPr>
              <a:lnSpc>
                <a:spcPct val="100000"/>
              </a:lnSpc>
              <a:spcBef>
                <a:spcPts val="0"/>
              </a:spcBef>
            </a:pPr>
            <a:r>
              <a:rPr lang="en-US" sz="1800" b="1" i="1" dirty="0"/>
              <a:t>Materials:</a:t>
            </a:r>
          </a:p>
          <a:p>
            <a:pPr lvl="1">
              <a:lnSpc>
                <a:spcPct val="100000"/>
              </a:lnSpc>
              <a:spcBef>
                <a:spcPts val="0"/>
              </a:spcBef>
            </a:pPr>
            <a:r>
              <a:rPr lang="en-US" dirty="0"/>
              <a:t>a picture of a snake to represent the /s/ sound</a:t>
            </a:r>
          </a:p>
          <a:p>
            <a:pPr lvl="1">
              <a:lnSpc>
                <a:spcPct val="100000"/>
              </a:lnSpc>
              <a:spcBef>
                <a:spcPts val="0"/>
              </a:spcBef>
            </a:pPr>
            <a:r>
              <a:rPr lang="en-US" dirty="0"/>
              <a:t>a picture of a boy about to eat an ice cream sundae to represent the /m/ sound</a:t>
            </a:r>
          </a:p>
          <a:p>
            <a:pPr lvl="1">
              <a:lnSpc>
                <a:spcPct val="100000"/>
              </a:lnSpc>
              <a:spcBef>
                <a:spcPts val="0"/>
              </a:spcBef>
            </a:pPr>
            <a:r>
              <a:rPr lang="en-US" dirty="0"/>
              <a:t>a stack of 26 pennies for reinforcements</a:t>
            </a:r>
          </a:p>
        </p:txBody>
      </p:sp>
      <p:sp>
        <p:nvSpPr>
          <p:cNvPr id="5" name="Content Placeholder 4">
            <a:extLst>
              <a:ext uri="{FF2B5EF4-FFF2-40B4-BE49-F238E27FC236}">
                <a16:creationId xmlns:a16="http://schemas.microsoft.com/office/drawing/2014/main" id="{F285F278-5B1B-4063-B70E-1CDC0969145D}"/>
              </a:ext>
            </a:extLst>
          </p:cNvPr>
          <p:cNvSpPr>
            <a:spLocks noGrp="1"/>
          </p:cNvSpPr>
          <p:nvPr>
            <p:ph sz="half" idx="2"/>
          </p:nvPr>
        </p:nvSpPr>
        <p:spPr>
          <a:xfrm>
            <a:off x="6413771" y="1864194"/>
            <a:ext cx="4645152" cy="4442338"/>
          </a:xfrm>
        </p:spPr>
        <p:txBody>
          <a:bodyPr>
            <a:normAutofit fontScale="47500" lnSpcReduction="20000"/>
          </a:bodyPr>
          <a:lstStyle/>
          <a:p>
            <a:pPr>
              <a:spcBef>
                <a:spcPts val="0"/>
              </a:spcBef>
            </a:pPr>
            <a:r>
              <a:rPr lang="en-US" sz="2900" b="1" i="1" dirty="0"/>
              <a:t>Procedures:</a:t>
            </a:r>
          </a:p>
          <a:p>
            <a:pPr>
              <a:spcBef>
                <a:spcPts val="0"/>
              </a:spcBef>
            </a:pPr>
            <a:endParaRPr lang="en-US" sz="2900" b="1" i="1" dirty="0"/>
          </a:p>
          <a:p>
            <a:pPr>
              <a:spcBef>
                <a:spcPts val="0"/>
              </a:spcBef>
            </a:pPr>
            <a:r>
              <a:rPr lang="en-US" sz="2900" dirty="0"/>
              <a:t>Introduce the picture of the snake by pointing to it and saying “ssssssssss . . .” Ask the child to imitate your production. Similarly, introduce the picture of the sundae, and say “mmmmmm . . .” Ask the child to imitate your production.</a:t>
            </a:r>
          </a:p>
          <a:p>
            <a:pPr>
              <a:spcBef>
                <a:spcPts val="0"/>
              </a:spcBef>
            </a:pPr>
            <a:endParaRPr lang="en-US" sz="2900" dirty="0"/>
          </a:p>
          <a:p>
            <a:pPr>
              <a:spcBef>
                <a:spcPts val="0"/>
              </a:spcBef>
            </a:pPr>
            <a:r>
              <a:rPr lang="en-US" sz="2900" dirty="0"/>
              <a:t>Say each sound with your face visible. After each utterance, ask the child to point to the corresponding picture.</a:t>
            </a:r>
          </a:p>
          <a:p>
            <a:pPr>
              <a:spcBef>
                <a:spcPts val="0"/>
              </a:spcBef>
            </a:pPr>
            <a:endParaRPr lang="en-US" sz="2900" dirty="0"/>
          </a:p>
          <a:p>
            <a:pPr>
              <a:spcBef>
                <a:spcPts val="0"/>
              </a:spcBef>
            </a:pPr>
            <a:r>
              <a:rPr lang="en-US" sz="2900" dirty="0"/>
              <a:t>Place 13 pennies on each picture. Cover your mouth. Randomly say one sound after another. After each production, the child may pick up a penny from one of the two pictures. If the child removes a penny from the correct picture, he or she can keep it. If incorrect, the penny must be placed back on the picture.</a:t>
            </a:r>
          </a:p>
          <a:p>
            <a:pPr>
              <a:spcBef>
                <a:spcPts val="0"/>
              </a:spcBef>
            </a:pPr>
            <a:endParaRPr lang="en-US" sz="2900" dirty="0"/>
          </a:p>
          <a:p>
            <a:pPr>
              <a:spcBef>
                <a:spcPts val="0"/>
              </a:spcBef>
            </a:pPr>
            <a:r>
              <a:rPr lang="en-US" sz="2900" dirty="0"/>
              <a:t>Continue until all pennies are spent.</a:t>
            </a:r>
          </a:p>
          <a:p>
            <a:endParaRPr lang="en-US" dirty="0"/>
          </a:p>
        </p:txBody>
      </p:sp>
      <p:sp>
        <p:nvSpPr>
          <p:cNvPr id="4" name="Slide Number Placeholder 3">
            <a:extLst>
              <a:ext uri="{FF2B5EF4-FFF2-40B4-BE49-F238E27FC236}">
                <a16:creationId xmlns:a16="http://schemas.microsoft.com/office/drawing/2014/main" id="{2118FC83-226D-4E9B-B256-032CB06AEC06}"/>
              </a:ext>
            </a:extLst>
          </p:cNvPr>
          <p:cNvSpPr>
            <a:spLocks noGrp="1"/>
          </p:cNvSpPr>
          <p:nvPr>
            <p:ph type="sldNum" sz="quarter" idx="12"/>
          </p:nvPr>
        </p:nvSpPr>
        <p:spPr/>
        <p:txBody>
          <a:bodyPr/>
          <a:lstStyle/>
          <a:p>
            <a:fld id="{C51C943E-796B-416B-8F40-6FB0B60CFA1E}" type="slidenum">
              <a:rPr lang="en-US" smtClean="0"/>
              <a:t>37</a:t>
            </a:fld>
            <a:endParaRPr lang="en-US" dirty="0"/>
          </a:p>
        </p:txBody>
      </p:sp>
    </p:spTree>
    <p:extLst>
      <p:ext uri="{BB962C8B-B14F-4D97-AF65-F5344CB8AC3E}">
        <p14:creationId xmlns:p14="http://schemas.microsoft.com/office/powerpoint/2010/main" val="2683755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C0F142-915E-12D9-6FD5-E9832F3E2B0F}"/>
              </a:ext>
            </a:extLst>
          </p:cNvPr>
          <p:cNvSpPr>
            <a:spLocks noGrp="1"/>
          </p:cNvSpPr>
          <p:nvPr>
            <p:ph type="title"/>
          </p:nvPr>
        </p:nvSpPr>
        <p:spPr/>
        <p:txBody>
          <a:bodyPr/>
          <a:lstStyle/>
          <a:p>
            <a:pPr>
              <a:defRPr/>
            </a:pPr>
            <a:r>
              <a:rPr lang="en-US" dirty="0"/>
              <a:t>Auditory training approaches in 4 categories:</a:t>
            </a:r>
          </a:p>
        </p:txBody>
      </p:sp>
      <p:sp>
        <p:nvSpPr>
          <p:cNvPr id="5" name="Content Placeholder 4">
            <a:extLst>
              <a:ext uri="{FF2B5EF4-FFF2-40B4-BE49-F238E27FC236}">
                <a16:creationId xmlns:a16="http://schemas.microsoft.com/office/drawing/2014/main" id="{E63B1D45-AC13-468D-0A5A-000202F49FE3}"/>
              </a:ext>
            </a:extLst>
          </p:cNvPr>
          <p:cNvSpPr>
            <a:spLocks noGrp="1"/>
          </p:cNvSpPr>
          <p:nvPr>
            <p:ph idx="1"/>
          </p:nvPr>
        </p:nvSpPr>
        <p:spPr/>
        <p:txBody>
          <a:bodyPr/>
          <a:lstStyle/>
          <a:p>
            <a:pPr eaLnBrk="1" hangingPunct="1"/>
            <a:r>
              <a:rPr lang="en-US" altLang="en-US" sz="3600" dirty="0"/>
              <a:t>Analytic</a:t>
            </a:r>
          </a:p>
          <a:p>
            <a:pPr eaLnBrk="1" hangingPunct="1"/>
            <a:r>
              <a:rPr lang="en-US" altLang="en-US" sz="3600" b="1" dirty="0"/>
              <a:t>Synthetic</a:t>
            </a:r>
          </a:p>
          <a:p>
            <a:pPr eaLnBrk="1" hangingPunct="1"/>
            <a:r>
              <a:rPr lang="en-US" altLang="en-US" sz="3600" dirty="0"/>
              <a:t>Pragmatic</a:t>
            </a:r>
          </a:p>
          <a:p>
            <a:pPr eaLnBrk="1" hangingPunct="1"/>
            <a:r>
              <a:rPr lang="en-US" altLang="en-US" sz="3600" b="1" dirty="0"/>
              <a:t>Eclectic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2E9EAE85-BD09-CD2E-3A2C-68D038C148F3}"/>
              </a:ext>
            </a:extLst>
          </p:cNvPr>
          <p:cNvSpPr>
            <a:spLocks noGrp="1" noChangeArrowheads="1"/>
          </p:cNvSpPr>
          <p:nvPr>
            <p:ph type="title"/>
          </p:nvPr>
        </p:nvSpPr>
        <p:spPr/>
        <p:txBody>
          <a:bodyPr/>
          <a:lstStyle/>
          <a:p>
            <a:pPr>
              <a:defRPr/>
            </a:pPr>
            <a:r>
              <a:rPr lang="en-US" altLang="en-US"/>
              <a:t>Analytic Auditory Approach</a:t>
            </a:r>
          </a:p>
        </p:txBody>
      </p:sp>
      <p:sp>
        <p:nvSpPr>
          <p:cNvPr id="2" name="Content Placeholder 1">
            <a:extLst>
              <a:ext uri="{FF2B5EF4-FFF2-40B4-BE49-F238E27FC236}">
                <a16:creationId xmlns:a16="http://schemas.microsoft.com/office/drawing/2014/main" id="{33CD3D20-5E64-879D-9878-8705A3910D42}"/>
              </a:ext>
            </a:extLst>
          </p:cNvPr>
          <p:cNvSpPr>
            <a:spLocks noGrp="1"/>
          </p:cNvSpPr>
          <p:nvPr>
            <p:ph idx="1"/>
          </p:nvPr>
        </p:nvSpPr>
        <p:spPr/>
        <p:txBody>
          <a:bodyPr/>
          <a:lstStyle/>
          <a:p>
            <a:pPr eaLnBrk="1" hangingPunct="1"/>
            <a:r>
              <a:rPr lang="en-US" altLang="en-US" sz="2800" dirty="0"/>
              <a:t>Break speech into smaller components</a:t>
            </a:r>
          </a:p>
          <a:p>
            <a:pPr eaLnBrk="1" hangingPunct="1"/>
            <a:r>
              <a:rPr lang="en-US" altLang="en-US" sz="2800" b="1" dirty="0"/>
              <a:t>(same - different) Bottom-up approach</a:t>
            </a:r>
          </a:p>
          <a:p>
            <a:pPr eaLnBrk="1" hangingPunct="1"/>
            <a:r>
              <a:rPr lang="en-US" altLang="en-US" sz="2800" dirty="0"/>
              <a:t>Vowels vs consonants</a:t>
            </a:r>
          </a:p>
          <a:p>
            <a:pPr eaLnBrk="1" hangingPunct="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14AB2F1F-B860-CAB5-A955-F65BCDEB3BA3}"/>
              </a:ext>
            </a:extLst>
          </p:cNvPr>
          <p:cNvSpPr>
            <a:spLocks noGrp="1" noChangeArrowheads="1"/>
          </p:cNvSpPr>
          <p:nvPr>
            <p:ph type="title"/>
          </p:nvPr>
        </p:nvSpPr>
        <p:spPr>
          <a:xfrm>
            <a:off x="1814514" y="1028700"/>
            <a:ext cx="7196137" cy="1257300"/>
          </a:xfrm>
        </p:spPr>
        <p:txBody>
          <a:bodyPr/>
          <a:lstStyle/>
          <a:p>
            <a:pPr>
              <a:defRPr/>
            </a:pPr>
            <a:r>
              <a:rPr lang="en-US" sz="3300" dirty="0"/>
              <a:t>Analytic Therapy Objectives</a:t>
            </a:r>
          </a:p>
        </p:txBody>
      </p:sp>
      <p:sp>
        <p:nvSpPr>
          <p:cNvPr id="30723" name="Rectangle 3">
            <a:extLst>
              <a:ext uri="{FF2B5EF4-FFF2-40B4-BE49-F238E27FC236}">
                <a16:creationId xmlns:a16="http://schemas.microsoft.com/office/drawing/2014/main" id="{A8A7CAE0-B750-F829-1B18-8E421CA4860E}"/>
              </a:ext>
            </a:extLst>
          </p:cNvPr>
          <p:cNvSpPr>
            <a:spLocks noGrp="1" noChangeArrowheads="1"/>
          </p:cNvSpPr>
          <p:nvPr>
            <p:ph idx="1"/>
          </p:nvPr>
        </p:nvSpPr>
        <p:spPr>
          <a:xfrm>
            <a:off x="1814514" y="2000250"/>
            <a:ext cx="8548687" cy="3771900"/>
          </a:xfrm>
        </p:spPr>
        <p:txBody>
          <a:bodyPr/>
          <a:lstStyle/>
          <a:p>
            <a:pPr eaLnBrk="1" hangingPunct="1">
              <a:lnSpc>
                <a:spcPct val="90000"/>
              </a:lnSpc>
            </a:pPr>
            <a:r>
              <a:rPr lang="en-US" altLang="en-US" sz="2400"/>
              <a:t>Will discriminate vowels that differ in first formant information Will discriminate vowels that differ in second formant information</a:t>
            </a:r>
          </a:p>
          <a:p>
            <a:pPr eaLnBrk="1" hangingPunct="1">
              <a:lnSpc>
                <a:spcPct val="90000"/>
              </a:lnSpc>
            </a:pPr>
            <a:r>
              <a:rPr lang="en-US" altLang="en-US" sz="2400"/>
              <a:t>Will discriminate words that have vowels with similar first and second formant information </a:t>
            </a:r>
          </a:p>
          <a:p>
            <a:pPr eaLnBrk="1" hangingPunct="1">
              <a:lnSpc>
                <a:spcPct val="90000"/>
              </a:lnSpc>
            </a:pPr>
            <a:r>
              <a:rPr lang="en-US" altLang="en-US" sz="2400"/>
              <a:t>Will identify words with different vowels, using a four-item response set </a:t>
            </a:r>
          </a:p>
          <a:p>
            <a:pPr eaLnBrk="1" hangingPunct="1">
              <a:lnSpc>
                <a:spcPct val="90000"/>
              </a:lnSpc>
            </a:pPr>
            <a:r>
              <a:rPr lang="en-US" altLang="en-US" sz="2400"/>
              <a:t>Will identify words with different vowels, from an open set of vocabulary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A7BC-0A61-DD57-9E4C-5D75522C649F}"/>
              </a:ext>
            </a:extLst>
          </p:cNvPr>
          <p:cNvSpPr>
            <a:spLocks noGrp="1"/>
          </p:cNvSpPr>
          <p:nvPr>
            <p:ph type="title"/>
          </p:nvPr>
        </p:nvSpPr>
        <p:spPr/>
        <p:txBody>
          <a:bodyPr/>
          <a:lstStyle/>
          <a:p>
            <a:pPr>
              <a:defRPr/>
            </a:pPr>
            <a:r>
              <a:rPr lang="en-US" dirty="0"/>
              <a:t>synthetic</a:t>
            </a:r>
          </a:p>
        </p:txBody>
      </p:sp>
      <p:sp>
        <p:nvSpPr>
          <p:cNvPr id="3" name="Content Placeholder 2">
            <a:extLst>
              <a:ext uri="{FF2B5EF4-FFF2-40B4-BE49-F238E27FC236}">
                <a16:creationId xmlns:a16="http://schemas.microsoft.com/office/drawing/2014/main" id="{28BFB43F-14ED-9AAC-C2B4-875064F6E5C5}"/>
              </a:ext>
            </a:extLst>
          </p:cNvPr>
          <p:cNvSpPr>
            <a:spLocks noGrp="1"/>
          </p:cNvSpPr>
          <p:nvPr>
            <p:ph idx="1"/>
          </p:nvPr>
        </p:nvSpPr>
        <p:spPr/>
        <p:txBody>
          <a:bodyPr rtlCol="0">
            <a:normAutofit/>
          </a:bodyPr>
          <a:lstStyle/>
          <a:p>
            <a:pPr>
              <a:defRPr/>
            </a:pPr>
            <a:r>
              <a:rPr lang="en-US" sz="3200" dirty="0"/>
              <a:t>Emphasizes use of clues derived from syntax and context</a:t>
            </a:r>
          </a:p>
          <a:p>
            <a:pPr>
              <a:defRPr/>
            </a:pPr>
            <a:r>
              <a:rPr lang="en-US" sz="3200" dirty="0"/>
              <a:t>Use of meaningful stimuli</a:t>
            </a:r>
          </a:p>
          <a:p>
            <a:pPr>
              <a:defRPr/>
            </a:pPr>
            <a:r>
              <a:rPr lang="en-US" sz="3200" b="1" dirty="0"/>
              <a:t>(Sentence perception) Top-down approach</a:t>
            </a:r>
          </a:p>
          <a:p>
            <a:pPr marL="0" indent="0">
              <a:buNone/>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28585E3-5BE5-E3AD-F097-2E833F819462}"/>
              </a:ext>
            </a:extLst>
          </p:cNvPr>
          <p:cNvSpPr>
            <a:spLocks noGrp="1" noChangeArrowheads="1"/>
          </p:cNvSpPr>
          <p:nvPr>
            <p:ph type="title"/>
          </p:nvPr>
        </p:nvSpPr>
        <p:spPr/>
        <p:txBody>
          <a:bodyPr/>
          <a:lstStyle/>
          <a:p>
            <a:pPr>
              <a:defRPr/>
            </a:pPr>
            <a:r>
              <a:rPr lang="en-US" altLang="en-US" dirty="0"/>
              <a:t>Synthetic Therapy Objectives</a:t>
            </a:r>
          </a:p>
        </p:txBody>
      </p:sp>
      <p:sp>
        <p:nvSpPr>
          <p:cNvPr id="17411" name="Rectangle 3">
            <a:extLst>
              <a:ext uri="{FF2B5EF4-FFF2-40B4-BE49-F238E27FC236}">
                <a16:creationId xmlns:a16="http://schemas.microsoft.com/office/drawing/2014/main" id="{952BEE28-DC1D-6F1E-00D3-27BA04E718C3}"/>
              </a:ext>
            </a:extLst>
          </p:cNvPr>
          <p:cNvSpPr>
            <a:spLocks noGrp="1" noChangeArrowheads="1"/>
          </p:cNvSpPr>
          <p:nvPr>
            <p:ph idx="1"/>
          </p:nvPr>
        </p:nvSpPr>
        <p:spPr>
          <a:xfrm>
            <a:off x="2133600" y="1879600"/>
            <a:ext cx="8229600" cy="4114800"/>
          </a:xfrm>
        </p:spPr>
        <p:txBody>
          <a:bodyPr/>
          <a:lstStyle/>
          <a:p>
            <a:pPr eaLnBrk="1" hangingPunct="1"/>
            <a:r>
              <a:rPr lang="en-US" altLang="en-US" sz="3200"/>
              <a:t>Will discriminate between a declarative and interrogative sentence</a:t>
            </a:r>
          </a:p>
          <a:p>
            <a:pPr eaLnBrk="1" hangingPunct="1"/>
            <a:r>
              <a:rPr lang="en-US" altLang="en-US" sz="3200"/>
              <a:t>Will carry on a conversation</a:t>
            </a:r>
          </a:p>
          <a:p>
            <a:pPr eaLnBrk="1" hangingPunct="1"/>
            <a:r>
              <a:rPr lang="en-US" altLang="en-US" sz="3200"/>
              <a:t>Can follow the instructions of simple commands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29B42-25AC-0FBF-5688-4F857E67029F}"/>
              </a:ext>
            </a:extLst>
          </p:cNvPr>
          <p:cNvSpPr>
            <a:spLocks noGrp="1"/>
          </p:cNvSpPr>
          <p:nvPr>
            <p:ph type="title"/>
          </p:nvPr>
        </p:nvSpPr>
        <p:spPr/>
        <p:txBody>
          <a:bodyPr/>
          <a:lstStyle/>
          <a:p>
            <a:pPr>
              <a:defRPr/>
            </a:pPr>
            <a:r>
              <a:rPr lang="en-US" dirty="0"/>
              <a:t>Pragmatic</a:t>
            </a:r>
          </a:p>
        </p:txBody>
      </p:sp>
      <p:sp>
        <p:nvSpPr>
          <p:cNvPr id="5" name="Content Placeholder 4">
            <a:extLst>
              <a:ext uri="{FF2B5EF4-FFF2-40B4-BE49-F238E27FC236}">
                <a16:creationId xmlns:a16="http://schemas.microsoft.com/office/drawing/2014/main" id="{7C14E592-D8B9-B3D5-7D7F-B9E6625E0224}"/>
              </a:ext>
            </a:extLst>
          </p:cNvPr>
          <p:cNvSpPr>
            <a:spLocks noGrp="1"/>
          </p:cNvSpPr>
          <p:nvPr>
            <p:ph idx="1"/>
          </p:nvPr>
        </p:nvSpPr>
        <p:spPr>
          <a:xfrm>
            <a:off x="1905000" y="2016126"/>
            <a:ext cx="8610600" cy="3927475"/>
          </a:xfrm>
        </p:spPr>
        <p:txBody>
          <a:bodyPr/>
          <a:lstStyle/>
          <a:p>
            <a:pPr eaLnBrk="1" hangingPunct="1"/>
            <a:r>
              <a:rPr lang="en-US" altLang="en-US" sz="2800" dirty="0"/>
              <a:t>Training listener to control communication variables</a:t>
            </a:r>
          </a:p>
          <a:p>
            <a:pPr eaLnBrk="1" hangingPunct="1"/>
            <a:r>
              <a:rPr lang="en-US" altLang="en-US" sz="2800" dirty="0"/>
              <a:t>Level of speech</a:t>
            </a:r>
          </a:p>
          <a:p>
            <a:pPr eaLnBrk="1" hangingPunct="1"/>
            <a:r>
              <a:rPr lang="en-US" altLang="en-US" sz="2800" b="1" dirty="0"/>
              <a:t>Signal-to-noise ratio (SNR)</a:t>
            </a:r>
          </a:p>
          <a:p>
            <a:pPr eaLnBrk="1" hangingPunct="1"/>
            <a:r>
              <a:rPr lang="en-US" altLang="en-US" sz="2800" dirty="0"/>
              <a:t>Context or complexity of message</a:t>
            </a:r>
          </a:p>
          <a:p>
            <a:pPr eaLnBrk="1" hangingPunct="1"/>
            <a:r>
              <a:rPr lang="en-US" altLang="en-US" sz="2800" dirty="0"/>
              <a:t>Table 4.8 QUEST?AR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9EDFD-983B-769F-0E63-9FBE53DC5171}"/>
              </a:ext>
            </a:extLst>
          </p:cNvPr>
          <p:cNvSpPr>
            <a:spLocks noGrp="1"/>
          </p:cNvSpPr>
          <p:nvPr>
            <p:ph type="title"/>
          </p:nvPr>
        </p:nvSpPr>
        <p:spPr/>
        <p:txBody>
          <a:bodyPr/>
          <a:lstStyle/>
          <a:p>
            <a:pPr>
              <a:defRPr/>
            </a:pPr>
            <a:r>
              <a:rPr lang="en-US" dirty="0"/>
              <a:t>Eclectic:</a:t>
            </a:r>
          </a:p>
        </p:txBody>
      </p:sp>
      <p:sp>
        <p:nvSpPr>
          <p:cNvPr id="37891" name="Content Placeholder 2">
            <a:extLst>
              <a:ext uri="{FF2B5EF4-FFF2-40B4-BE49-F238E27FC236}">
                <a16:creationId xmlns:a16="http://schemas.microsoft.com/office/drawing/2014/main" id="{395E2E10-EEB3-9D93-6792-D6CCEA9FEFFF}"/>
              </a:ext>
            </a:extLst>
          </p:cNvPr>
          <p:cNvSpPr>
            <a:spLocks noGrp="1"/>
          </p:cNvSpPr>
          <p:nvPr>
            <p:ph idx="1"/>
          </p:nvPr>
        </p:nvSpPr>
        <p:spPr/>
        <p:txBody>
          <a:bodyPr/>
          <a:lstStyle/>
          <a:p>
            <a:pPr eaLnBrk="1" hangingPunct="1"/>
            <a:r>
              <a:rPr lang="en-US" altLang="en-US" sz="3200"/>
              <a:t>Combines most or all of the strategies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F1DA073-9F58-4D8C-9127-822FF6B61806}"/>
              </a:ext>
            </a:extLst>
          </p:cNvPr>
          <p:cNvSpPr>
            <a:spLocks noGrp="1" noChangeArrowheads="1"/>
          </p:cNvSpPr>
          <p:nvPr>
            <p:ph type="title"/>
          </p:nvPr>
        </p:nvSpPr>
        <p:spPr/>
        <p:txBody>
          <a:bodyPr/>
          <a:lstStyle/>
          <a:p>
            <a:r>
              <a:rPr lang="en-US" altLang="en-US" dirty="0"/>
              <a:t>Goals of Auditory Training</a:t>
            </a:r>
          </a:p>
        </p:txBody>
      </p:sp>
      <p:sp>
        <p:nvSpPr>
          <p:cNvPr id="88067" name="Rectangle 3">
            <a:extLst>
              <a:ext uri="{FF2B5EF4-FFF2-40B4-BE49-F238E27FC236}">
                <a16:creationId xmlns:a16="http://schemas.microsoft.com/office/drawing/2014/main" id="{F96983D8-F5FC-4026-80BA-CEBA34277994}"/>
              </a:ext>
            </a:extLst>
          </p:cNvPr>
          <p:cNvSpPr>
            <a:spLocks noGrp="1" noChangeArrowheads="1"/>
          </p:cNvSpPr>
          <p:nvPr>
            <p:ph idx="1"/>
          </p:nvPr>
        </p:nvSpPr>
        <p:spPr/>
        <p:txBody>
          <a:bodyPr/>
          <a:lstStyle/>
          <a:p>
            <a:pPr>
              <a:lnSpc>
                <a:spcPct val="80000"/>
              </a:lnSpc>
            </a:pPr>
            <a:r>
              <a:rPr lang="en-US" altLang="en-US" dirty="0"/>
              <a:t>There are many factors that can be manipulated to make a task </a:t>
            </a:r>
            <a:r>
              <a:rPr lang="en-US" altLang="en-US" b="1" dirty="0"/>
              <a:t>easier or harder</a:t>
            </a:r>
          </a:p>
          <a:p>
            <a:pPr marL="0" indent="0">
              <a:lnSpc>
                <a:spcPct val="80000"/>
              </a:lnSpc>
              <a:buNone/>
            </a:pPr>
            <a:endParaRPr lang="en-US" altLang="en-US" dirty="0"/>
          </a:p>
          <a:p>
            <a:pPr>
              <a:lnSpc>
                <a:spcPct val="80000"/>
              </a:lnSpc>
            </a:pPr>
            <a:r>
              <a:rPr lang="en-US" altLang="en-US" dirty="0"/>
              <a:t>Regardless, the goal is always to make the listening task challenging without being frustrating.</a:t>
            </a:r>
          </a:p>
          <a:p>
            <a:pPr>
              <a:lnSpc>
                <a:spcPct val="80000"/>
              </a:lnSpc>
            </a:pPr>
            <a:endParaRPr lang="en-US" altLang="en-US" dirty="0"/>
          </a:p>
          <a:p>
            <a:pPr>
              <a:lnSpc>
                <a:spcPct val="80000"/>
              </a:lnSpc>
            </a:pPr>
            <a:r>
              <a:rPr lang="en-US" altLang="en-US" dirty="0"/>
              <a:t>The most useful learning events are those that take place in a </a:t>
            </a:r>
            <a:r>
              <a:rPr lang="en-US" altLang="en-US" b="1" dirty="0"/>
              <a:t>meaningful context for that child specifically.</a:t>
            </a:r>
            <a:endParaRPr lang="en-US" altLang="en-US" dirty="0"/>
          </a:p>
        </p:txBody>
      </p:sp>
      <p:sp>
        <p:nvSpPr>
          <p:cNvPr id="2" name="Slide Number Placeholder 1">
            <a:extLst>
              <a:ext uri="{FF2B5EF4-FFF2-40B4-BE49-F238E27FC236}">
                <a16:creationId xmlns:a16="http://schemas.microsoft.com/office/drawing/2014/main" id="{1A8DEB29-F139-4785-8566-25ED201C2C04}"/>
              </a:ext>
            </a:extLst>
          </p:cNvPr>
          <p:cNvSpPr>
            <a:spLocks noGrp="1"/>
          </p:cNvSpPr>
          <p:nvPr>
            <p:ph type="sldNum" sz="quarter" idx="12"/>
          </p:nvPr>
        </p:nvSpPr>
        <p:spPr/>
        <p:txBody>
          <a:bodyPr/>
          <a:lstStyle/>
          <a:p>
            <a:fld id="{C51C943E-796B-416B-8F40-6FB0B60CFA1E}" type="slidenum">
              <a:rPr lang="en-US" smtClean="0"/>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1239B3B-84A9-0323-B5C1-1B9B8433B229}"/>
              </a:ext>
            </a:extLst>
          </p:cNvPr>
          <p:cNvSpPr>
            <a:spLocks noGrp="1" noChangeArrowheads="1"/>
          </p:cNvSpPr>
          <p:nvPr>
            <p:ph type="title"/>
          </p:nvPr>
        </p:nvSpPr>
        <p:spPr>
          <a:xfrm>
            <a:off x="2967038" y="804863"/>
            <a:ext cx="6572250" cy="1058862"/>
          </a:xfrm>
        </p:spPr>
        <p:txBody>
          <a:bodyPr/>
          <a:lstStyle/>
          <a:p>
            <a:pPr>
              <a:defRPr/>
            </a:pPr>
            <a:r>
              <a:rPr lang="en-US" altLang="en-US"/>
              <a:t>Four Design Principles</a:t>
            </a:r>
          </a:p>
        </p:txBody>
      </p:sp>
      <p:sp>
        <p:nvSpPr>
          <p:cNvPr id="5123" name="Rectangle 3">
            <a:extLst>
              <a:ext uri="{FF2B5EF4-FFF2-40B4-BE49-F238E27FC236}">
                <a16:creationId xmlns:a16="http://schemas.microsoft.com/office/drawing/2014/main" id="{FE169724-FA54-E5D1-2313-46E8768F2EEF}"/>
              </a:ext>
            </a:extLst>
          </p:cNvPr>
          <p:cNvSpPr>
            <a:spLocks noGrp="1" noChangeArrowheads="1"/>
          </p:cNvSpPr>
          <p:nvPr>
            <p:ph sz="half" idx="1"/>
          </p:nvPr>
        </p:nvSpPr>
        <p:spPr>
          <a:xfrm>
            <a:off x="1676401" y="2014539"/>
            <a:ext cx="4416425" cy="3436937"/>
          </a:xfrm>
        </p:spPr>
        <p:txBody>
          <a:bodyPr rtlCol="0">
            <a:normAutofit fontScale="92500" lnSpcReduction="20000"/>
          </a:bodyPr>
          <a:lstStyle/>
          <a:p>
            <a:pPr marL="457200" indent="-457200">
              <a:lnSpc>
                <a:spcPct val="90000"/>
              </a:lnSpc>
              <a:buFontTx/>
              <a:buAutoNum type="arabicPeriod"/>
              <a:defRPr/>
            </a:pPr>
            <a:r>
              <a:rPr lang="en-US" altLang="en-US" sz="2400" dirty="0"/>
              <a:t>Auditory Skill</a:t>
            </a:r>
          </a:p>
          <a:p>
            <a:pPr marL="838200" lvl="1" indent="-381000">
              <a:lnSpc>
                <a:spcPct val="90000"/>
              </a:lnSpc>
              <a:defRPr/>
            </a:pPr>
            <a:r>
              <a:rPr lang="en-US" altLang="en-US" sz="2000" dirty="0"/>
              <a:t>Awareness, detection</a:t>
            </a:r>
          </a:p>
          <a:p>
            <a:pPr marL="838200" lvl="1" indent="-381000">
              <a:lnSpc>
                <a:spcPct val="90000"/>
              </a:lnSpc>
              <a:defRPr/>
            </a:pPr>
            <a:r>
              <a:rPr lang="en-US" altLang="en-US" sz="2000" dirty="0"/>
              <a:t>Discrimination</a:t>
            </a:r>
          </a:p>
          <a:p>
            <a:pPr marL="838200" lvl="1" indent="-381000">
              <a:lnSpc>
                <a:spcPct val="90000"/>
              </a:lnSpc>
              <a:defRPr/>
            </a:pPr>
            <a:r>
              <a:rPr lang="en-US" altLang="en-US" sz="2000" dirty="0"/>
              <a:t>Identification</a:t>
            </a:r>
          </a:p>
          <a:p>
            <a:pPr marL="838200" lvl="1" indent="-381000">
              <a:lnSpc>
                <a:spcPct val="90000"/>
              </a:lnSpc>
              <a:defRPr/>
            </a:pPr>
            <a:r>
              <a:rPr lang="en-US" altLang="en-US" sz="2000" dirty="0"/>
              <a:t>Comprehension</a:t>
            </a:r>
          </a:p>
          <a:p>
            <a:pPr marL="457200" indent="-457200">
              <a:lnSpc>
                <a:spcPct val="90000"/>
              </a:lnSpc>
              <a:buFontTx/>
              <a:buAutoNum type="arabicPeriod"/>
              <a:defRPr/>
            </a:pPr>
            <a:r>
              <a:rPr lang="en-US" altLang="en-US" sz="2400" dirty="0"/>
              <a:t>Stimuli</a:t>
            </a:r>
          </a:p>
          <a:p>
            <a:pPr marL="838200" lvl="1" indent="-381000">
              <a:lnSpc>
                <a:spcPct val="90000"/>
              </a:lnSpc>
              <a:defRPr/>
            </a:pPr>
            <a:r>
              <a:rPr lang="en-US" altLang="en-US" sz="2000" dirty="0"/>
              <a:t>Phonetic level</a:t>
            </a:r>
          </a:p>
          <a:p>
            <a:pPr marL="838200" lvl="1" indent="-381000">
              <a:lnSpc>
                <a:spcPct val="90000"/>
              </a:lnSpc>
              <a:defRPr/>
            </a:pPr>
            <a:r>
              <a:rPr lang="en-US" altLang="en-US" sz="2000" dirty="0"/>
              <a:t>Sentence level</a:t>
            </a:r>
          </a:p>
          <a:p>
            <a:pPr marL="457200" indent="-457200">
              <a:lnSpc>
                <a:spcPct val="90000"/>
              </a:lnSpc>
              <a:buFontTx/>
              <a:buAutoNum type="arabicPeriod"/>
              <a:defRPr/>
            </a:pPr>
            <a:r>
              <a:rPr lang="en-US" altLang="en-US" sz="2400" dirty="0"/>
              <a:t>Activity Type</a:t>
            </a:r>
          </a:p>
          <a:p>
            <a:pPr marL="838200" lvl="1" indent="-381000">
              <a:lnSpc>
                <a:spcPct val="90000"/>
              </a:lnSpc>
              <a:defRPr/>
            </a:pPr>
            <a:r>
              <a:rPr lang="en-US" altLang="en-US" sz="2000" dirty="0"/>
              <a:t>Formal</a:t>
            </a:r>
          </a:p>
          <a:p>
            <a:pPr marL="838200" lvl="1" indent="-381000">
              <a:lnSpc>
                <a:spcPct val="90000"/>
              </a:lnSpc>
              <a:defRPr/>
            </a:pPr>
            <a:r>
              <a:rPr lang="en-US" altLang="en-US" sz="2000" dirty="0"/>
              <a:t>Informal</a:t>
            </a:r>
          </a:p>
        </p:txBody>
      </p:sp>
      <p:sp>
        <p:nvSpPr>
          <p:cNvPr id="5124" name="Rectangle 4">
            <a:extLst>
              <a:ext uri="{FF2B5EF4-FFF2-40B4-BE49-F238E27FC236}">
                <a16:creationId xmlns:a16="http://schemas.microsoft.com/office/drawing/2014/main" id="{1BFE2580-A8B7-4F2E-2707-430A0D58F3E3}"/>
              </a:ext>
            </a:extLst>
          </p:cNvPr>
          <p:cNvSpPr>
            <a:spLocks noGrp="1" noChangeArrowheads="1"/>
          </p:cNvSpPr>
          <p:nvPr>
            <p:ph sz="half" idx="2"/>
          </p:nvPr>
        </p:nvSpPr>
        <p:spPr>
          <a:xfrm>
            <a:off x="6413500" y="2014539"/>
            <a:ext cx="3873500" cy="3436937"/>
          </a:xfrm>
        </p:spPr>
        <p:txBody>
          <a:bodyPr rtlCol="0">
            <a:normAutofit fontScale="92500" lnSpcReduction="20000"/>
          </a:bodyPr>
          <a:lstStyle/>
          <a:p>
            <a:pPr marL="533400" indent="-533400">
              <a:lnSpc>
                <a:spcPct val="90000"/>
              </a:lnSpc>
              <a:buFontTx/>
              <a:buAutoNum type="arabicPeriod" startAt="4"/>
              <a:defRPr/>
            </a:pPr>
            <a:r>
              <a:rPr lang="en-US" altLang="en-US" sz="2400" dirty="0"/>
              <a:t>Difficulty Level</a:t>
            </a:r>
          </a:p>
          <a:p>
            <a:pPr marL="914400" lvl="1" indent="-457200">
              <a:lnSpc>
                <a:spcPct val="90000"/>
              </a:lnSpc>
              <a:defRPr/>
            </a:pPr>
            <a:r>
              <a:rPr lang="en-US" altLang="en-US" sz="2000" dirty="0"/>
              <a:t>Response type</a:t>
            </a:r>
          </a:p>
          <a:p>
            <a:pPr marL="1295400" lvl="2" indent="-381000">
              <a:lnSpc>
                <a:spcPct val="90000"/>
              </a:lnSpc>
              <a:defRPr/>
            </a:pPr>
            <a:r>
              <a:rPr lang="en-US" altLang="en-US" sz="1800" dirty="0"/>
              <a:t>Closed, limited, open</a:t>
            </a:r>
          </a:p>
          <a:p>
            <a:pPr marL="914400" lvl="1" indent="-457200">
              <a:lnSpc>
                <a:spcPct val="90000"/>
              </a:lnSpc>
              <a:defRPr/>
            </a:pPr>
            <a:r>
              <a:rPr lang="en-US" altLang="en-US" sz="2000" dirty="0"/>
              <a:t>Stimulus unit</a:t>
            </a:r>
          </a:p>
          <a:p>
            <a:pPr marL="1295400" lvl="2" indent="-381000">
              <a:lnSpc>
                <a:spcPct val="90000"/>
              </a:lnSpc>
              <a:defRPr/>
            </a:pPr>
            <a:r>
              <a:rPr lang="en-US" altLang="en-US" sz="1800" dirty="0"/>
              <a:t>Words, phrases, sentences</a:t>
            </a:r>
          </a:p>
          <a:p>
            <a:pPr marL="914400" lvl="1" indent="-457200">
              <a:lnSpc>
                <a:spcPct val="90000"/>
              </a:lnSpc>
              <a:defRPr/>
            </a:pPr>
            <a:r>
              <a:rPr lang="en-US" altLang="en-US" sz="2000" dirty="0"/>
              <a:t>Stimulus similarity</a:t>
            </a:r>
          </a:p>
          <a:p>
            <a:pPr marL="914400" lvl="1" indent="-457200">
              <a:lnSpc>
                <a:spcPct val="90000"/>
              </a:lnSpc>
              <a:defRPr/>
            </a:pPr>
            <a:r>
              <a:rPr lang="en-US" altLang="en-US" sz="2000" dirty="0"/>
              <a:t>Contextual support</a:t>
            </a:r>
          </a:p>
          <a:p>
            <a:pPr marL="914400" lvl="1" indent="-457200">
              <a:lnSpc>
                <a:spcPct val="90000"/>
              </a:lnSpc>
              <a:defRPr/>
            </a:pPr>
            <a:r>
              <a:rPr lang="en-US" altLang="en-US" sz="2000" dirty="0"/>
              <a:t>Task structure</a:t>
            </a:r>
          </a:p>
          <a:p>
            <a:pPr marL="1295400" lvl="2" indent="-381000">
              <a:lnSpc>
                <a:spcPct val="90000"/>
              </a:lnSpc>
              <a:defRPr/>
            </a:pPr>
            <a:r>
              <a:rPr lang="en-US" altLang="en-US" sz="1800" dirty="0"/>
              <a:t>Highly structured, spontaneous</a:t>
            </a:r>
          </a:p>
          <a:p>
            <a:pPr marL="914400" lvl="1" indent="-457200">
              <a:lnSpc>
                <a:spcPct val="90000"/>
              </a:lnSpc>
              <a:defRPr/>
            </a:pPr>
            <a:r>
              <a:rPr lang="en-US" altLang="en-US" sz="2000" dirty="0"/>
              <a:t>Listening conditions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D54E3D0-CDC2-4CBA-04A1-98E097FEB927}"/>
              </a:ext>
            </a:extLst>
          </p:cNvPr>
          <p:cNvSpPr>
            <a:spLocks noGrp="1" noChangeArrowheads="1"/>
          </p:cNvSpPr>
          <p:nvPr>
            <p:ph type="title"/>
          </p:nvPr>
        </p:nvSpPr>
        <p:spPr/>
        <p:txBody>
          <a:bodyPr/>
          <a:lstStyle/>
          <a:p>
            <a:pPr>
              <a:defRPr/>
            </a:pPr>
            <a:r>
              <a:rPr lang="en-US" altLang="en-US" dirty="0"/>
              <a:t>3.  Activity Type</a:t>
            </a:r>
          </a:p>
        </p:txBody>
      </p:sp>
      <p:sp>
        <p:nvSpPr>
          <p:cNvPr id="36867" name="Rectangle 3">
            <a:extLst>
              <a:ext uri="{FF2B5EF4-FFF2-40B4-BE49-F238E27FC236}">
                <a16:creationId xmlns:a16="http://schemas.microsoft.com/office/drawing/2014/main" id="{BBF27E3C-AEC4-8548-EA0A-DF5B12DB19E9}"/>
              </a:ext>
            </a:extLst>
          </p:cNvPr>
          <p:cNvSpPr>
            <a:spLocks noGrp="1" noChangeArrowheads="1"/>
          </p:cNvSpPr>
          <p:nvPr>
            <p:ph idx="1"/>
          </p:nvPr>
        </p:nvSpPr>
        <p:spPr>
          <a:xfrm>
            <a:off x="2133600" y="2016125"/>
            <a:ext cx="8153400" cy="3449638"/>
          </a:xfrm>
        </p:spPr>
        <p:txBody>
          <a:bodyPr>
            <a:normAutofit fontScale="92500" lnSpcReduction="20000"/>
          </a:bodyPr>
          <a:lstStyle/>
          <a:p>
            <a:pPr eaLnBrk="1" hangingPunct="1"/>
            <a:r>
              <a:rPr lang="en-US" altLang="en-US" sz="3200" b="1" dirty="0"/>
              <a:t>Informal</a:t>
            </a:r>
          </a:p>
          <a:p>
            <a:pPr lvl="1" eaLnBrk="1" hangingPunct="1"/>
            <a:r>
              <a:rPr lang="en-US" altLang="en-US" sz="3200" dirty="0"/>
              <a:t>Occurs as part of the daily routine</a:t>
            </a:r>
          </a:p>
          <a:p>
            <a:pPr lvl="1" eaLnBrk="1" hangingPunct="1"/>
            <a:r>
              <a:rPr lang="en-US" altLang="en-US" sz="3200" dirty="0"/>
              <a:t>Often incorporated into other activities</a:t>
            </a:r>
          </a:p>
          <a:p>
            <a:pPr eaLnBrk="1" hangingPunct="1"/>
            <a:r>
              <a:rPr lang="en-US" altLang="en-US" sz="3200" b="1" dirty="0"/>
              <a:t>Formal</a:t>
            </a:r>
          </a:p>
          <a:p>
            <a:pPr lvl="1" eaLnBrk="1" hangingPunct="1"/>
            <a:r>
              <a:rPr lang="en-US" altLang="en-US" sz="3200" dirty="0"/>
              <a:t>Highly structured</a:t>
            </a:r>
          </a:p>
          <a:p>
            <a:pPr lvl="1" eaLnBrk="1" hangingPunct="1"/>
            <a:r>
              <a:rPr lang="en-US" altLang="en-US" sz="3200" dirty="0"/>
              <a:t>Usually one-on-one training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8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8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2CE4844-5311-4612-B0C2-A72C5C22D397}"/>
              </a:ext>
            </a:extLst>
          </p:cNvPr>
          <p:cNvSpPr>
            <a:spLocks noGrp="1" noChangeArrowheads="1"/>
          </p:cNvSpPr>
          <p:nvPr>
            <p:ph type="title"/>
          </p:nvPr>
        </p:nvSpPr>
        <p:spPr/>
        <p:txBody>
          <a:bodyPr/>
          <a:lstStyle/>
          <a:p>
            <a:pPr>
              <a:defRPr/>
            </a:pPr>
            <a:r>
              <a:rPr lang="en-US" altLang="en-US" dirty="0"/>
              <a:t>Difficulty Level</a:t>
            </a:r>
          </a:p>
        </p:txBody>
      </p:sp>
      <p:sp>
        <p:nvSpPr>
          <p:cNvPr id="12291" name="Rectangle 3">
            <a:extLst>
              <a:ext uri="{FF2B5EF4-FFF2-40B4-BE49-F238E27FC236}">
                <a16:creationId xmlns:a16="http://schemas.microsoft.com/office/drawing/2014/main" id="{3D10F1A5-92B3-4883-A42D-8F115AB71DFD}"/>
              </a:ext>
            </a:extLst>
          </p:cNvPr>
          <p:cNvSpPr>
            <a:spLocks noGrp="1" noChangeArrowheads="1"/>
          </p:cNvSpPr>
          <p:nvPr>
            <p:ph idx="1"/>
          </p:nvPr>
        </p:nvSpPr>
        <p:spPr>
          <a:xfrm>
            <a:off x="1104507" y="1981200"/>
            <a:ext cx="4800600" cy="4343400"/>
          </a:xfrm>
        </p:spPr>
        <p:txBody>
          <a:bodyPr rtlCol="0">
            <a:normAutofit/>
          </a:bodyPr>
          <a:lstStyle/>
          <a:p>
            <a:pPr>
              <a:lnSpc>
                <a:spcPct val="150000"/>
              </a:lnSpc>
              <a:defRPr/>
            </a:pPr>
            <a:r>
              <a:rPr lang="en-US" altLang="en-US" dirty="0"/>
              <a:t>Stimulus set---------------</a:t>
            </a:r>
          </a:p>
          <a:p>
            <a:pPr>
              <a:lnSpc>
                <a:spcPct val="150000"/>
              </a:lnSpc>
              <a:defRPr/>
            </a:pPr>
            <a:r>
              <a:rPr lang="en-US" altLang="en-US" dirty="0"/>
              <a:t>Stimulus unit-------------</a:t>
            </a:r>
          </a:p>
          <a:p>
            <a:pPr>
              <a:lnSpc>
                <a:spcPct val="150000"/>
              </a:lnSpc>
              <a:defRPr/>
            </a:pPr>
            <a:r>
              <a:rPr lang="en-US" altLang="en-US" dirty="0"/>
              <a:t>Stimulus similarity------</a:t>
            </a:r>
          </a:p>
          <a:p>
            <a:pPr>
              <a:lnSpc>
                <a:spcPct val="150000"/>
              </a:lnSpc>
              <a:defRPr/>
            </a:pPr>
            <a:r>
              <a:rPr lang="en-US" altLang="en-US" dirty="0"/>
              <a:t>Contextual support----</a:t>
            </a:r>
          </a:p>
          <a:p>
            <a:pPr>
              <a:lnSpc>
                <a:spcPct val="150000"/>
              </a:lnSpc>
              <a:defRPr/>
            </a:pPr>
            <a:r>
              <a:rPr lang="en-US" altLang="en-US" dirty="0"/>
              <a:t>Task structure-----------</a:t>
            </a:r>
          </a:p>
          <a:p>
            <a:pPr>
              <a:lnSpc>
                <a:spcPct val="150000"/>
              </a:lnSpc>
              <a:defRPr/>
            </a:pPr>
            <a:r>
              <a:rPr lang="en-US" altLang="en-US" dirty="0"/>
              <a:t>Listening conditions (SNR)</a:t>
            </a:r>
          </a:p>
        </p:txBody>
      </p:sp>
      <p:sp>
        <p:nvSpPr>
          <p:cNvPr id="2" name="Slide Number Placeholder 1">
            <a:extLst>
              <a:ext uri="{FF2B5EF4-FFF2-40B4-BE49-F238E27FC236}">
                <a16:creationId xmlns:a16="http://schemas.microsoft.com/office/drawing/2014/main" id="{40A4BB9E-4AD2-45EF-B3B3-D97AB5AEA843}"/>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640EF0DC-8A20-40D4-8DED-651380C2075F}" type="slidenum">
              <a:rPr lang="en-US" altLang="en-US">
                <a:solidFill>
                  <a:schemeClr val="accent1"/>
                </a:solidFill>
              </a:rPr>
              <a:pPr/>
              <a:t>48</a:t>
            </a:fld>
            <a:endParaRPr lang="en-US" altLang="en-US" dirty="0">
              <a:solidFill>
                <a:schemeClr val="accent1"/>
              </a:solidFill>
            </a:endParaRPr>
          </a:p>
        </p:txBody>
      </p:sp>
      <p:sp>
        <p:nvSpPr>
          <p:cNvPr id="51204" name="AutoShape 4">
            <a:extLst>
              <a:ext uri="{FF2B5EF4-FFF2-40B4-BE49-F238E27FC236}">
                <a16:creationId xmlns:a16="http://schemas.microsoft.com/office/drawing/2014/main" id="{E3BEBB08-5202-4208-9E00-ECCCE1389FEE}"/>
              </a:ext>
            </a:extLst>
          </p:cNvPr>
          <p:cNvSpPr>
            <a:spLocks noChangeArrowheads="1"/>
          </p:cNvSpPr>
          <p:nvPr/>
        </p:nvSpPr>
        <p:spPr bwMode="auto">
          <a:xfrm>
            <a:off x="5334000" y="2133600"/>
            <a:ext cx="4800600" cy="685800"/>
          </a:xfrm>
          <a:prstGeom prst="leftRightArrow">
            <a:avLst>
              <a:gd name="adj1" fmla="val 50000"/>
              <a:gd name="adj2" fmla="val 140000"/>
            </a:avLst>
          </a:prstGeom>
          <a:solidFill>
            <a:srgbClr val="00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solidFill>
                  <a:schemeClr val="bg1"/>
                </a:solidFill>
                <a:latin typeface="Times New Roman" panose="02020603050405020304" pitchFamily="18" charset="0"/>
              </a:rPr>
              <a:t>closed         limited              open</a:t>
            </a:r>
          </a:p>
        </p:txBody>
      </p:sp>
      <p:sp>
        <p:nvSpPr>
          <p:cNvPr id="51205" name="AutoShape 5">
            <a:extLst>
              <a:ext uri="{FF2B5EF4-FFF2-40B4-BE49-F238E27FC236}">
                <a16:creationId xmlns:a16="http://schemas.microsoft.com/office/drawing/2014/main" id="{2F97F4F6-19E7-4BA7-8DC2-83B0FEE051E5}"/>
              </a:ext>
            </a:extLst>
          </p:cNvPr>
          <p:cNvSpPr>
            <a:spLocks noChangeArrowheads="1"/>
          </p:cNvSpPr>
          <p:nvPr/>
        </p:nvSpPr>
        <p:spPr bwMode="auto">
          <a:xfrm>
            <a:off x="5334000" y="2819400"/>
            <a:ext cx="4800600" cy="685800"/>
          </a:xfrm>
          <a:prstGeom prst="leftRightArrow">
            <a:avLst>
              <a:gd name="adj1" fmla="val 50000"/>
              <a:gd name="adj2" fmla="val 140000"/>
            </a:avLst>
          </a:prstGeom>
          <a:solidFill>
            <a:srgbClr val="00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solidFill>
                  <a:schemeClr val="bg1"/>
                </a:solidFill>
                <a:latin typeface="Times New Roman" panose="02020603050405020304" pitchFamily="18" charset="0"/>
              </a:rPr>
              <a:t>phoneme syllable word sentence</a:t>
            </a:r>
          </a:p>
        </p:txBody>
      </p:sp>
      <p:sp>
        <p:nvSpPr>
          <p:cNvPr id="51206" name="AutoShape 6">
            <a:extLst>
              <a:ext uri="{FF2B5EF4-FFF2-40B4-BE49-F238E27FC236}">
                <a16:creationId xmlns:a16="http://schemas.microsoft.com/office/drawing/2014/main" id="{DBBB1CEA-86EB-47E4-9CBC-6C3F9FDFC490}"/>
              </a:ext>
            </a:extLst>
          </p:cNvPr>
          <p:cNvSpPr>
            <a:spLocks noChangeArrowheads="1"/>
          </p:cNvSpPr>
          <p:nvPr/>
        </p:nvSpPr>
        <p:spPr bwMode="auto">
          <a:xfrm>
            <a:off x="5334000" y="3505200"/>
            <a:ext cx="4800600" cy="685800"/>
          </a:xfrm>
          <a:prstGeom prst="leftRightArrow">
            <a:avLst>
              <a:gd name="adj1" fmla="val 50000"/>
              <a:gd name="adj2" fmla="val 140000"/>
            </a:avLst>
          </a:prstGeom>
          <a:solidFill>
            <a:srgbClr val="00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solidFill>
                  <a:schemeClr val="bg1"/>
                </a:solidFill>
                <a:latin typeface="Times New Roman" panose="02020603050405020304" pitchFamily="18" charset="0"/>
              </a:rPr>
              <a:t>dissimilar                        similar</a:t>
            </a:r>
          </a:p>
        </p:txBody>
      </p:sp>
      <p:sp>
        <p:nvSpPr>
          <p:cNvPr id="51207" name="AutoShape 7">
            <a:extLst>
              <a:ext uri="{FF2B5EF4-FFF2-40B4-BE49-F238E27FC236}">
                <a16:creationId xmlns:a16="http://schemas.microsoft.com/office/drawing/2014/main" id="{623DD2F8-70A4-4E50-94F8-D5F97E406E72}"/>
              </a:ext>
            </a:extLst>
          </p:cNvPr>
          <p:cNvSpPr>
            <a:spLocks noChangeArrowheads="1"/>
          </p:cNvSpPr>
          <p:nvPr/>
        </p:nvSpPr>
        <p:spPr bwMode="auto">
          <a:xfrm>
            <a:off x="5334000" y="4191000"/>
            <a:ext cx="4800600" cy="685800"/>
          </a:xfrm>
          <a:prstGeom prst="leftRightArrow">
            <a:avLst>
              <a:gd name="adj1" fmla="val 50000"/>
              <a:gd name="adj2" fmla="val 140000"/>
            </a:avLst>
          </a:prstGeom>
          <a:solidFill>
            <a:srgbClr val="00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solidFill>
                  <a:schemeClr val="bg1"/>
                </a:solidFill>
                <a:latin typeface="Times New Roman" panose="02020603050405020304" pitchFamily="18" charset="0"/>
              </a:rPr>
              <a:t>high                                    low</a:t>
            </a:r>
          </a:p>
        </p:txBody>
      </p:sp>
      <p:sp>
        <p:nvSpPr>
          <p:cNvPr id="51208" name="AutoShape 8">
            <a:extLst>
              <a:ext uri="{FF2B5EF4-FFF2-40B4-BE49-F238E27FC236}">
                <a16:creationId xmlns:a16="http://schemas.microsoft.com/office/drawing/2014/main" id="{73B45273-CE45-4C21-802E-75BD3E3D7D5B}"/>
              </a:ext>
            </a:extLst>
          </p:cNvPr>
          <p:cNvSpPr>
            <a:spLocks noChangeArrowheads="1"/>
          </p:cNvSpPr>
          <p:nvPr/>
        </p:nvSpPr>
        <p:spPr bwMode="auto">
          <a:xfrm>
            <a:off x="5334000" y="5562600"/>
            <a:ext cx="4800600" cy="685800"/>
          </a:xfrm>
          <a:prstGeom prst="leftRightArrow">
            <a:avLst>
              <a:gd name="adj1" fmla="val 50000"/>
              <a:gd name="adj2" fmla="val 140000"/>
            </a:avLst>
          </a:prstGeom>
          <a:solidFill>
            <a:srgbClr val="00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solidFill>
                  <a:schemeClr val="bg1"/>
                </a:solidFill>
                <a:latin typeface="Times New Roman" panose="02020603050405020304" pitchFamily="18" charset="0"/>
              </a:rPr>
              <a:t>good                                poor</a:t>
            </a:r>
          </a:p>
        </p:txBody>
      </p:sp>
      <p:sp>
        <p:nvSpPr>
          <p:cNvPr id="51209" name="AutoShape 12">
            <a:extLst>
              <a:ext uri="{FF2B5EF4-FFF2-40B4-BE49-F238E27FC236}">
                <a16:creationId xmlns:a16="http://schemas.microsoft.com/office/drawing/2014/main" id="{0602554A-76FC-4A31-BF3E-5959F9F55529}"/>
              </a:ext>
            </a:extLst>
          </p:cNvPr>
          <p:cNvSpPr>
            <a:spLocks noChangeArrowheads="1"/>
          </p:cNvSpPr>
          <p:nvPr/>
        </p:nvSpPr>
        <p:spPr bwMode="auto">
          <a:xfrm>
            <a:off x="5334000" y="1447800"/>
            <a:ext cx="4800600" cy="685800"/>
          </a:xfrm>
          <a:prstGeom prst="leftRightArrow">
            <a:avLst>
              <a:gd name="adj1" fmla="val 50000"/>
              <a:gd name="adj2" fmla="val 140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latin typeface="Times New Roman" panose="02020603050405020304" pitchFamily="18" charset="0"/>
              </a:rPr>
              <a:t>easy                                    hard</a:t>
            </a:r>
          </a:p>
        </p:txBody>
      </p:sp>
      <p:sp>
        <p:nvSpPr>
          <p:cNvPr id="51210" name="AutoShape 13">
            <a:extLst>
              <a:ext uri="{FF2B5EF4-FFF2-40B4-BE49-F238E27FC236}">
                <a16:creationId xmlns:a16="http://schemas.microsoft.com/office/drawing/2014/main" id="{A88F02AA-A0C7-4C56-AFA1-A61867407A61}"/>
              </a:ext>
            </a:extLst>
          </p:cNvPr>
          <p:cNvSpPr>
            <a:spLocks noChangeArrowheads="1"/>
          </p:cNvSpPr>
          <p:nvPr/>
        </p:nvSpPr>
        <p:spPr bwMode="auto">
          <a:xfrm>
            <a:off x="5334000" y="4876800"/>
            <a:ext cx="4800600" cy="685800"/>
          </a:xfrm>
          <a:prstGeom prst="leftRightArrow">
            <a:avLst>
              <a:gd name="adj1" fmla="val 50000"/>
              <a:gd name="adj2" fmla="val 140000"/>
            </a:avLst>
          </a:prstGeom>
          <a:solidFill>
            <a:srgbClr val="00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20000"/>
              </a:lnSpc>
              <a:spcBef>
                <a:spcPts val="1000"/>
              </a:spcBef>
              <a:buClr>
                <a:schemeClr val="accent1"/>
              </a:buClr>
              <a:buSzPct val="100000"/>
              <a:buFont typeface="Arial" panose="020B0604020202020204" pitchFamily="34" charset="0"/>
              <a:buChar char="•"/>
              <a:defRPr sz="2000">
                <a:solidFill>
                  <a:schemeClr val="tx1"/>
                </a:solidFill>
                <a:latin typeface="Gill Sans MT" panose="020B0502020104020203" pitchFamily="34" charset="0"/>
              </a:defRPr>
            </a:lvl1pPr>
            <a:lvl2pPr marL="742950" indent="-28575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2pPr>
            <a:lvl3pPr marL="1143000" indent="-228600">
              <a:lnSpc>
                <a:spcPct val="120000"/>
              </a:lnSpc>
              <a:spcBef>
                <a:spcPts val="500"/>
              </a:spcBef>
              <a:buClr>
                <a:schemeClr val="accent1"/>
              </a:buClr>
              <a:buSzPct val="100000"/>
              <a:buFont typeface="Arial" panose="020B0604020202020204" pitchFamily="34" charset="0"/>
              <a:buChar char="•"/>
              <a:defRPr sz="1600">
                <a:solidFill>
                  <a:schemeClr val="tx1"/>
                </a:solidFill>
                <a:latin typeface="Gill Sans MT" panose="020B0502020104020203" pitchFamily="34" charset="0"/>
              </a:defRPr>
            </a:lvl3pPr>
            <a:lvl4pPr marL="1600200" indent="-228600">
              <a:lnSpc>
                <a:spcPct val="120000"/>
              </a:lnSpc>
              <a:spcBef>
                <a:spcPts val="500"/>
              </a:spcBef>
              <a:buClr>
                <a:schemeClr val="accent1"/>
              </a:buClr>
              <a:buSzPct val="100000"/>
              <a:buFont typeface="Arial" panose="020B0604020202020204" pitchFamily="34" charset="0"/>
              <a:buChar char="•"/>
              <a:defRPr sz="1400">
                <a:solidFill>
                  <a:schemeClr val="tx1"/>
                </a:solidFill>
                <a:latin typeface="Gill Sans MT" panose="020B0502020104020203" pitchFamily="34" charset="0"/>
              </a:defRPr>
            </a:lvl4pPr>
            <a:lvl5pPr marL="2057400" indent="-228600">
              <a:lnSpc>
                <a:spcPct val="120000"/>
              </a:lnSpc>
              <a:spcBef>
                <a:spcPts val="500"/>
              </a:spcBef>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5pPr>
            <a:lvl6pPr marL="25146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6pPr>
            <a:lvl7pPr marL="29718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7pPr>
            <a:lvl8pPr marL="34290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8pPr>
            <a:lvl9pPr marL="3886200" indent="-228600" defTabSz="457200" eaLnBrk="0" fontAlgn="base" hangingPunct="0">
              <a:lnSpc>
                <a:spcPct val="120000"/>
              </a:lnSpc>
              <a:spcBef>
                <a:spcPts val="500"/>
              </a:spcBef>
              <a:spcAft>
                <a:spcPct val="0"/>
              </a:spcAft>
              <a:buClr>
                <a:schemeClr val="accent1"/>
              </a:buClr>
              <a:buSzPct val="100000"/>
              <a:buFont typeface="Arial" panose="020B0604020202020204" pitchFamily="34" charset="0"/>
              <a:buChar char="•"/>
              <a:defRPr sz="1200">
                <a:solidFill>
                  <a:schemeClr val="tx1"/>
                </a:solidFill>
                <a:latin typeface="Gill Sans MT" panose="020B0502020104020203" pitchFamily="34" charset="0"/>
              </a:defRPr>
            </a:lvl9pPr>
          </a:lstStyle>
          <a:p>
            <a:pPr algn="ctr" eaLnBrk="1" hangingPunct="1">
              <a:lnSpc>
                <a:spcPct val="100000"/>
              </a:lnSpc>
              <a:spcBef>
                <a:spcPct val="0"/>
              </a:spcBef>
              <a:buClrTx/>
              <a:buSzTx/>
              <a:buFontTx/>
              <a:buNone/>
            </a:pPr>
            <a:r>
              <a:rPr lang="en-US" altLang="en-US" sz="2400" dirty="0">
                <a:solidFill>
                  <a:schemeClr val="bg1"/>
                </a:solidFill>
                <a:latin typeface="Times New Roman" panose="02020603050405020304" pitchFamily="18" charset="0"/>
              </a:rPr>
              <a:t>structured               spontaneous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CF54131-3524-4F4B-B717-C4070E33BB94}"/>
              </a:ext>
            </a:extLst>
          </p:cNvPr>
          <p:cNvSpPr>
            <a:spLocks noGrp="1" noChangeArrowheads="1"/>
          </p:cNvSpPr>
          <p:nvPr>
            <p:ph type="title"/>
          </p:nvPr>
        </p:nvSpPr>
        <p:spPr/>
        <p:txBody>
          <a:bodyPr/>
          <a:lstStyle/>
          <a:p>
            <a:r>
              <a:rPr lang="en-US" altLang="en-US" dirty="0"/>
              <a:t>Formal Auditory training programs</a:t>
            </a:r>
          </a:p>
        </p:txBody>
      </p:sp>
      <p:sp>
        <p:nvSpPr>
          <p:cNvPr id="71683" name="Rectangle 3">
            <a:extLst>
              <a:ext uri="{FF2B5EF4-FFF2-40B4-BE49-F238E27FC236}">
                <a16:creationId xmlns:a16="http://schemas.microsoft.com/office/drawing/2014/main" id="{13B45F4B-5E29-4CE2-A81E-678824B5D4FE}"/>
              </a:ext>
            </a:extLst>
          </p:cNvPr>
          <p:cNvSpPr>
            <a:spLocks noGrp="1" noChangeArrowheads="1"/>
          </p:cNvSpPr>
          <p:nvPr>
            <p:ph idx="1"/>
          </p:nvPr>
        </p:nvSpPr>
        <p:spPr>
          <a:xfrm>
            <a:off x="754144" y="1853754"/>
            <a:ext cx="9228056" cy="4775646"/>
          </a:xfrm>
        </p:spPr>
        <p:txBody>
          <a:bodyPr/>
          <a:lstStyle/>
          <a:p>
            <a:pPr>
              <a:lnSpc>
                <a:spcPct val="80000"/>
              </a:lnSpc>
            </a:pPr>
            <a:r>
              <a:rPr lang="en-US" altLang="en-US" dirty="0"/>
              <a:t>There are a number of formal, commercially available auditory training programs available for use.</a:t>
            </a:r>
          </a:p>
          <a:p>
            <a:pPr lvl="1">
              <a:lnSpc>
                <a:spcPct val="80000"/>
              </a:lnSpc>
            </a:pPr>
            <a:r>
              <a:rPr lang="en-US" altLang="en-US" sz="3200" i="1" dirty="0"/>
              <a:t>SPICE (Speech Perception Instructional Curriculum Evaluation)</a:t>
            </a:r>
            <a:endParaRPr lang="en-US" altLang="en-US" sz="3200" dirty="0"/>
          </a:p>
          <a:p>
            <a:pPr lvl="1">
              <a:lnSpc>
                <a:spcPct val="80000"/>
              </a:lnSpc>
            </a:pPr>
            <a:r>
              <a:rPr lang="en-US" altLang="en-US" sz="3200" i="1" dirty="0"/>
              <a:t>Learn To Talk Around The Clock</a:t>
            </a:r>
          </a:p>
          <a:p>
            <a:pPr lvl="1">
              <a:lnSpc>
                <a:spcPct val="80000"/>
              </a:lnSpc>
            </a:pPr>
            <a:r>
              <a:rPr lang="en-US" altLang="en-US" sz="3200" i="1" dirty="0"/>
              <a:t>Cottage Acquisition Scales For Listening, Language, and Speech</a:t>
            </a:r>
          </a:p>
          <a:p>
            <a:pPr lvl="1">
              <a:lnSpc>
                <a:spcPct val="80000"/>
              </a:lnSpc>
            </a:pPr>
            <a:r>
              <a:rPr lang="en-US" altLang="en-US" sz="3200" i="1" dirty="0"/>
              <a:t>Developmental Approach to Successful Listening (DASL)</a:t>
            </a:r>
          </a:p>
          <a:p>
            <a:pPr lvl="1">
              <a:lnSpc>
                <a:spcPct val="80000"/>
              </a:lnSpc>
            </a:pPr>
            <a:r>
              <a:rPr lang="en-US" altLang="en-US" sz="3200" i="1" dirty="0"/>
              <a:t>SKI-HI</a:t>
            </a:r>
          </a:p>
        </p:txBody>
      </p:sp>
      <p:sp>
        <p:nvSpPr>
          <p:cNvPr id="2" name="Slide Number Placeholder 1">
            <a:extLst>
              <a:ext uri="{FF2B5EF4-FFF2-40B4-BE49-F238E27FC236}">
                <a16:creationId xmlns:a16="http://schemas.microsoft.com/office/drawing/2014/main" id="{F3D0B2AF-AAAC-458F-9776-107A99B52093}"/>
              </a:ext>
            </a:extLst>
          </p:cNvPr>
          <p:cNvSpPr>
            <a:spLocks noGrp="1"/>
          </p:cNvSpPr>
          <p:nvPr>
            <p:ph type="sldNum" sz="quarter" idx="12"/>
          </p:nvPr>
        </p:nvSpPr>
        <p:spPr/>
        <p:txBody>
          <a:bodyPr/>
          <a:lstStyle/>
          <a:p>
            <a:fld id="{C51C943E-796B-416B-8F40-6FB0B60CFA1E}" type="slidenum">
              <a:rPr lang="en-US" smtClean="0"/>
              <a:t>49</a:t>
            </a:fld>
            <a:endParaRPr lang="en-US" dirty="0"/>
          </a:p>
        </p:txBody>
      </p:sp>
    </p:spTree>
    <p:extLst>
      <p:ext uri="{BB962C8B-B14F-4D97-AF65-F5344CB8AC3E}">
        <p14:creationId xmlns:p14="http://schemas.microsoft.com/office/powerpoint/2010/main" val="6325878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54002-FE17-481D-9312-BDEE7237A5F4}"/>
              </a:ext>
            </a:extLst>
          </p:cNvPr>
          <p:cNvSpPr>
            <a:spLocks noGrp="1"/>
          </p:cNvSpPr>
          <p:nvPr>
            <p:ph type="title"/>
          </p:nvPr>
        </p:nvSpPr>
        <p:spPr>
          <a:xfrm>
            <a:off x="2967038" y="804864"/>
            <a:ext cx="6572250" cy="587375"/>
          </a:xfrm>
        </p:spPr>
        <p:txBody>
          <a:bodyPr>
            <a:noAutofit/>
          </a:bodyPr>
          <a:lstStyle/>
          <a:p>
            <a:pPr algn="ctr">
              <a:defRPr/>
            </a:pPr>
            <a:r>
              <a:rPr lang="en-US" sz="4800" dirty="0"/>
              <a:t>DASL II</a:t>
            </a:r>
          </a:p>
        </p:txBody>
      </p:sp>
      <p:sp>
        <p:nvSpPr>
          <p:cNvPr id="46083" name="Content Placeholder 2">
            <a:extLst>
              <a:ext uri="{FF2B5EF4-FFF2-40B4-BE49-F238E27FC236}">
                <a16:creationId xmlns:a16="http://schemas.microsoft.com/office/drawing/2014/main" id="{E2AB3B93-AC6D-4A8D-8D1B-DECA826756B6}"/>
              </a:ext>
            </a:extLst>
          </p:cNvPr>
          <p:cNvSpPr>
            <a:spLocks noGrp="1"/>
          </p:cNvSpPr>
          <p:nvPr>
            <p:ph idx="1"/>
          </p:nvPr>
        </p:nvSpPr>
        <p:spPr>
          <a:xfrm>
            <a:off x="1065229" y="2016126"/>
            <a:ext cx="8764571" cy="4037013"/>
          </a:xfrm>
        </p:spPr>
        <p:txBody>
          <a:bodyPr>
            <a:normAutofit fontScale="85000" lnSpcReduction="20000"/>
          </a:bodyPr>
          <a:lstStyle/>
          <a:p>
            <a:r>
              <a:rPr lang="en-US" altLang="en-US" sz="2400" b="1" dirty="0"/>
              <a:t>Developmental Approach to Successful Listening II​</a:t>
            </a:r>
          </a:p>
          <a:p>
            <a:endParaRPr lang="en-US" altLang="en-US" sz="2400" b="1" dirty="0"/>
          </a:p>
          <a:p>
            <a:r>
              <a:rPr lang="en-US" altLang="en-US" sz="2400" b="1" dirty="0"/>
              <a:t>Consists of hierarchy of listening skills worked on in brief, individualized sessions​</a:t>
            </a:r>
          </a:p>
          <a:p>
            <a:endParaRPr lang="en-US" altLang="en-US" sz="2400" b="1" dirty="0"/>
          </a:p>
          <a:p>
            <a:r>
              <a:rPr lang="en-US" altLang="en-US" sz="2400" b="1" dirty="0"/>
              <a:t>Main use is with preschool and school age using hearing aids/cochlear implants​</a:t>
            </a:r>
          </a:p>
          <a:p>
            <a:endParaRPr lang="en-US" altLang="en-US" sz="2400" b="1" dirty="0"/>
          </a:p>
          <a:p>
            <a:r>
              <a:rPr lang="en-US" altLang="en-US" sz="2400" b="1" dirty="0"/>
              <a:t>Emphasizes 3 areas of auditory skill development: Sound Awareness, Phonetic Listening and Auditory comprehension​</a:t>
            </a:r>
          </a:p>
          <a:p>
            <a:endParaRPr lang="en-US" altLang="en-US" sz="2400" b="1" dirty="0"/>
          </a:p>
        </p:txBody>
      </p:sp>
      <p:sp>
        <p:nvSpPr>
          <p:cNvPr id="3" name="Slide Number Placeholder 2">
            <a:extLst>
              <a:ext uri="{FF2B5EF4-FFF2-40B4-BE49-F238E27FC236}">
                <a16:creationId xmlns:a16="http://schemas.microsoft.com/office/drawing/2014/main" id="{4AAE476B-4278-41E8-9FAD-A1917348A399}"/>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7BD0A4FD-FB93-4C81-AB0E-5151D10B1CE6}" type="slidenum">
              <a:rPr lang="en-US" altLang="en-US">
                <a:solidFill>
                  <a:schemeClr val="accent1"/>
                </a:solidFill>
              </a:rPr>
              <a:pPr/>
              <a:t>50</a:t>
            </a:fld>
            <a:endParaRPr lang="en-US" altLang="en-US" dirty="0">
              <a:solidFill>
                <a:schemeClr val="accen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26E2-FE4F-47E0-A059-27EC95722880}"/>
              </a:ext>
            </a:extLst>
          </p:cNvPr>
          <p:cNvSpPr>
            <a:spLocks noGrp="1"/>
          </p:cNvSpPr>
          <p:nvPr>
            <p:ph type="title"/>
          </p:nvPr>
        </p:nvSpPr>
        <p:spPr/>
        <p:txBody>
          <a:bodyPr/>
          <a:lstStyle/>
          <a:p>
            <a:pPr algn="ctr">
              <a:defRPr/>
            </a:pPr>
            <a:r>
              <a:rPr lang="en-US" dirty="0"/>
              <a:t>SPICE</a:t>
            </a:r>
          </a:p>
        </p:txBody>
      </p:sp>
      <p:sp>
        <p:nvSpPr>
          <p:cNvPr id="47107" name="Content Placeholder 2">
            <a:extLst>
              <a:ext uri="{FF2B5EF4-FFF2-40B4-BE49-F238E27FC236}">
                <a16:creationId xmlns:a16="http://schemas.microsoft.com/office/drawing/2014/main" id="{A8EC00F7-E6ED-4A1F-89A2-91B245FC806A}"/>
              </a:ext>
            </a:extLst>
          </p:cNvPr>
          <p:cNvSpPr>
            <a:spLocks noGrp="1"/>
          </p:cNvSpPr>
          <p:nvPr>
            <p:ph idx="1"/>
          </p:nvPr>
        </p:nvSpPr>
        <p:spPr/>
        <p:txBody>
          <a:bodyPr>
            <a:normAutofit fontScale="92500" lnSpcReduction="20000"/>
          </a:bodyPr>
          <a:lstStyle/>
          <a:p>
            <a:r>
              <a:rPr lang="en-US" altLang="en-US" sz="2400" dirty="0"/>
              <a:t>Speech Perception Instructional Curriculum and Evaluation ​</a:t>
            </a:r>
          </a:p>
          <a:p>
            <a:endParaRPr lang="en-US" altLang="en-US" sz="2400" dirty="0"/>
          </a:p>
          <a:p>
            <a:r>
              <a:rPr lang="en-US" altLang="en-US" sz="2400" dirty="0"/>
              <a:t>Used for evaluating and developing auditory skills in children with severe to profound hearing loss​</a:t>
            </a:r>
          </a:p>
          <a:p>
            <a:endParaRPr lang="en-US" altLang="en-US" sz="2400" dirty="0"/>
          </a:p>
          <a:p>
            <a:r>
              <a:rPr lang="en-US" altLang="en-US" sz="2400" dirty="0"/>
              <a:t>Contains goals and objectives associated with 4 levels of speech perception: Detection, Suprasegmental, Vowel and Consonant Perception, and Connected Speech ​</a:t>
            </a:r>
          </a:p>
          <a:p>
            <a:endParaRPr lang="en-US" altLang="en-US" sz="2400" dirty="0"/>
          </a:p>
        </p:txBody>
      </p:sp>
      <p:sp>
        <p:nvSpPr>
          <p:cNvPr id="3" name="Slide Number Placeholder 2">
            <a:extLst>
              <a:ext uri="{FF2B5EF4-FFF2-40B4-BE49-F238E27FC236}">
                <a16:creationId xmlns:a16="http://schemas.microsoft.com/office/drawing/2014/main" id="{F547C4E5-081A-4878-AE74-DB3DAC2061DC}"/>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20654BEC-18D0-4833-BFFD-781D0CD21DF4}" type="slidenum">
              <a:rPr lang="en-US" altLang="en-US">
                <a:solidFill>
                  <a:schemeClr val="accent1"/>
                </a:solidFill>
              </a:rPr>
              <a:pPr/>
              <a:t>51</a:t>
            </a:fld>
            <a:endParaRPr lang="en-US" altLang="en-US" dirty="0">
              <a:solidFill>
                <a:schemeClr val="accen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1A824-4FE3-4AF3-9835-A9D37E45F549}"/>
              </a:ext>
            </a:extLst>
          </p:cNvPr>
          <p:cNvSpPr>
            <a:spLocks noGrp="1"/>
          </p:cNvSpPr>
          <p:nvPr>
            <p:ph type="title"/>
          </p:nvPr>
        </p:nvSpPr>
        <p:spPr/>
        <p:txBody>
          <a:bodyPr/>
          <a:lstStyle/>
          <a:p>
            <a:pPr algn="ctr">
              <a:defRPr/>
            </a:pPr>
            <a:r>
              <a:rPr lang="en-US" dirty="0"/>
              <a:t>SKI HI</a:t>
            </a:r>
          </a:p>
        </p:txBody>
      </p:sp>
      <p:sp>
        <p:nvSpPr>
          <p:cNvPr id="48131" name="Content Placeholder 2">
            <a:extLst>
              <a:ext uri="{FF2B5EF4-FFF2-40B4-BE49-F238E27FC236}">
                <a16:creationId xmlns:a16="http://schemas.microsoft.com/office/drawing/2014/main" id="{D9344B62-DC59-45FC-825D-A4331D0BFDD7}"/>
              </a:ext>
            </a:extLst>
          </p:cNvPr>
          <p:cNvSpPr>
            <a:spLocks noGrp="1"/>
          </p:cNvSpPr>
          <p:nvPr>
            <p:ph idx="1"/>
          </p:nvPr>
        </p:nvSpPr>
        <p:spPr>
          <a:xfrm>
            <a:off x="2967038" y="1854200"/>
            <a:ext cx="6572250" cy="4198938"/>
          </a:xfrm>
        </p:spPr>
        <p:txBody>
          <a:bodyPr>
            <a:normAutofit fontScale="77500" lnSpcReduction="20000"/>
          </a:bodyPr>
          <a:lstStyle/>
          <a:p>
            <a:r>
              <a:rPr lang="en-US" altLang="en-US" b="1" dirty="0"/>
              <a:t>Sensory [Kids] Impaired Home Intervention​</a:t>
            </a:r>
          </a:p>
          <a:p>
            <a:endParaRPr lang="en-US" altLang="en-US" b="1" dirty="0"/>
          </a:p>
          <a:p>
            <a:r>
              <a:rPr lang="en-US" altLang="en-US" b="1" dirty="0"/>
              <a:t>Comprehensive identification and home intervention curriculum for infants with hearing loss and their families​</a:t>
            </a:r>
          </a:p>
          <a:p>
            <a:endParaRPr lang="en-US" altLang="en-US" b="1" dirty="0"/>
          </a:p>
          <a:p>
            <a:r>
              <a:rPr lang="en-US" altLang="en-US" b="1" dirty="0"/>
              <a:t>Developmentally based auditory stimulation training program​</a:t>
            </a:r>
          </a:p>
          <a:p>
            <a:endParaRPr lang="en-US" altLang="en-US" b="1" dirty="0"/>
          </a:p>
          <a:p>
            <a:r>
              <a:rPr lang="en-US" altLang="en-US" b="1" dirty="0"/>
              <a:t>Used in conjunction with language-speech stimulation and consists of four phases and eleven general skills​</a:t>
            </a:r>
          </a:p>
          <a:p>
            <a:endParaRPr lang="en-US" altLang="en-US" b="1" dirty="0"/>
          </a:p>
          <a:p>
            <a:r>
              <a:rPr lang="en-US" altLang="en-US" b="1" dirty="0"/>
              <a:t>Table 4.10 ​</a:t>
            </a:r>
          </a:p>
          <a:p>
            <a:endParaRPr lang="en-US" altLang="en-US" b="1" dirty="0"/>
          </a:p>
        </p:txBody>
      </p:sp>
      <p:sp>
        <p:nvSpPr>
          <p:cNvPr id="3" name="Slide Number Placeholder 2">
            <a:extLst>
              <a:ext uri="{FF2B5EF4-FFF2-40B4-BE49-F238E27FC236}">
                <a16:creationId xmlns:a16="http://schemas.microsoft.com/office/drawing/2014/main" id="{19A4D22D-6CB3-4359-85BF-EBCC8F4FB2D9}"/>
              </a:ext>
            </a:extLst>
          </p:cNvPr>
          <p:cNvSpPr>
            <a:spLocks noGrp="1"/>
          </p:cNvSpPr>
          <p:nvPr>
            <p:ph type="sldNum" sz="quarter" idx="12"/>
          </p:nvPr>
        </p:nvSpPr>
        <p:spPr/>
        <p:txBody>
          <a:bodyPr/>
          <a:lstStyle>
            <a:lvl1pPr>
              <a:defRPr>
                <a:solidFill>
                  <a:schemeClr val="tx1"/>
                </a:solidFill>
                <a:latin typeface="Gill Sans MT" panose="020B0502020104020203" pitchFamily="34" charset="0"/>
              </a:defRPr>
            </a:lvl1pPr>
            <a:lvl2pPr marL="742950" indent="-285750">
              <a:defRPr>
                <a:solidFill>
                  <a:schemeClr val="tx1"/>
                </a:solidFill>
                <a:latin typeface="Gill Sans MT" panose="020B0502020104020203" pitchFamily="34" charset="0"/>
              </a:defRPr>
            </a:lvl2pPr>
            <a:lvl3pPr marL="1143000" indent="-228600">
              <a:defRPr>
                <a:solidFill>
                  <a:schemeClr val="tx1"/>
                </a:solidFill>
                <a:latin typeface="Gill Sans MT" panose="020B0502020104020203" pitchFamily="34" charset="0"/>
              </a:defRPr>
            </a:lvl3pPr>
            <a:lvl4pPr marL="1600200" indent="-228600">
              <a:defRPr>
                <a:solidFill>
                  <a:schemeClr val="tx1"/>
                </a:solidFill>
                <a:latin typeface="Gill Sans MT" panose="020B0502020104020203" pitchFamily="34" charset="0"/>
              </a:defRPr>
            </a:lvl4pPr>
            <a:lvl5pPr marL="2057400" indent="-228600">
              <a:defRPr>
                <a:solidFill>
                  <a:schemeClr val="tx1"/>
                </a:solidFill>
                <a:latin typeface="Gill Sans MT" panose="020B0502020104020203" pitchFamily="34" charset="0"/>
              </a:defRPr>
            </a:lvl5pPr>
            <a:lvl6pPr marL="2514600" indent="-228600" defTabSz="457200" eaLnBrk="0" fontAlgn="base" hangingPunct="0">
              <a:spcBef>
                <a:spcPct val="0"/>
              </a:spcBef>
              <a:spcAft>
                <a:spcPct val="0"/>
              </a:spcAft>
              <a:defRPr>
                <a:solidFill>
                  <a:schemeClr val="tx1"/>
                </a:solidFill>
                <a:latin typeface="Gill Sans MT" panose="020B0502020104020203" pitchFamily="34" charset="0"/>
              </a:defRPr>
            </a:lvl6pPr>
            <a:lvl7pPr marL="2971800" indent="-228600" defTabSz="457200" eaLnBrk="0" fontAlgn="base" hangingPunct="0">
              <a:spcBef>
                <a:spcPct val="0"/>
              </a:spcBef>
              <a:spcAft>
                <a:spcPct val="0"/>
              </a:spcAft>
              <a:defRPr>
                <a:solidFill>
                  <a:schemeClr val="tx1"/>
                </a:solidFill>
                <a:latin typeface="Gill Sans MT" panose="020B0502020104020203" pitchFamily="34" charset="0"/>
              </a:defRPr>
            </a:lvl7pPr>
            <a:lvl8pPr marL="3429000" indent="-228600" defTabSz="457200" eaLnBrk="0" fontAlgn="base" hangingPunct="0">
              <a:spcBef>
                <a:spcPct val="0"/>
              </a:spcBef>
              <a:spcAft>
                <a:spcPct val="0"/>
              </a:spcAft>
              <a:defRPr>
                <a:solidFill>
                  <a:schemeClr val="tx1"/>
                </a:solidFill>
                <a:latin typeface="Gill Sans MT" panose="020B0502020104020203" pitchFamily="34" charset="0"/>
              </a:defRPr>
            </a:lvl8pPr>
            <a:lvl9pPr marL="3886200" indent="-228600" defTabSz="457200" eaLnBrk="0" fontAlgn="base" hangingPunct="0">
              <a:spcBef>
                <a:spcPct val="0"/>
              </a:spcBef>
              <a:spcAft>
                <a:spcPct val="0"/>
              </a:spcAft>
              <a:defRPr>
                <a:solidFill>
                  <a:schemeClr val="tx1"/>
                </a:solidFill>
                <a:latin typeface="Gill Sans MT" panose="020B0502020104020203" pitchFamily="34" charset="0"/>
              </a:defRPr>
            </a:lvl9pPr>
          </a:lstStyle>
          <a:p>
            <a:fld id="{9DB343D2-14F2-462C-9E0D-77B203713BF2}" type="slidenum">
              <a:rPr lang="en-US" altLang="en-US">
                <a:solidFill>
                  <a:schemeClr val="accent1"/>
                </a:solidFill>
              </a:rPr>
              <a:pPr/>
              <a:t>52</a:t>
            </a:fld>
            <a:endParaRPr lang="en-US" altLang="en-US" dirty="0">
              <a:solidFill>
                <a:schemeClr val="accen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i="1" dirty="0"/>
              <a:t>Cottage Acquisition Scales For Listening, Language, and Speech</a:t>
            </a:r>
            <a:br>
              <a:rPr lang="en-US" altLang="en-US" i="1"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Age range: Birth-8 years ​</a:t>
            </a:r>
          </a:p>
          <a:p>
            <a:endParaRPr lang="en-US" dirty="0"/>
          </a:p>
          <a:p>
            <a:r>
              <a:rPr lang="en-US" dirty="0"/>
              <a:t>Integrated approach to language intervention by providing a single set of instruments for following the development of language, listening, cognition and speech in children with hearing loss. ​</a:t>
            </a:r>
          </a:p>
          <a:p>
            <a:endParaRPr lang="en-US" dirty="0"/>
          </a:p>
          <a:p>
            <a:r>
              <a:rPr lang="en-US"/>
              <a:t>Skills addressed include: Sound Awareness, Phonetic Listening, Suprasegmental Speech Duration, Vowels and Consonants, Vocalization &amp; Phonetic Level Speech, Phonological Level Speech ​</a:t>
            </a:r>
          </a:p>
          <a:p>
            <a:endParaRPr lang="en-US" dirty="0"/>
          </a:p>
        </p:txBody>
      </p:sp>
      <p:sp>
        <p:nvSpPr>
          <p:cNvPr id="4" name="Slide Number Placeholder 3"/>
          <p:cNvSpPr>
            <a:spLocks noGrp="1"/>
          </p:cNvSpPr>
          <p:nvPr>
            <p:ph type="sldNum" sz="quarter" idx="12"/>
          </p:nvPr>
        </p:nvSpPr>
        <p:spPr/>
        <p:txBody>
          <a:bodyPr/>
          <a:lstStyle/>
          <a:p>
            <a:fld id="{C51C943E-796B-416B-8F40-6FB0B60CFA1E}" type="slidenum">
              <a:rPr lang="en-US" smtClean="0"/>
              <a:t>53</a:t>
            </a:fld>
            <a:endParaRPr lang="en-US" dirty="0"/>
          </a:p>
        </p:txBody>
      </p:sp>
    </p:spTree>
    <p:extLst>
      <p:ext uri="{BB962C8B-B14F-4D97-AF65-F5344CB8AC3E}">
        <p14:creationId xmlns:p14="http://schemas.microsoft.com/office/powerpoint/2010/main" val="1776891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a:extLst>
              <a:ext uri="{FF2B5EF4-FFF2-40B4-BE49-F238E27FC236}">
                <a16:creationId xmlns:a16="http://schemas.microsoft.com/office/drawing/2014/main" id="{71BCB30D-891D-45C7-BB7B-37B475969EF7}"/>
              </a:ext>
            </a:extLst>
          </p:cNvPr>
          <p:cNvSpPr>
            <a:spLocks noGrp="1" noChangeArrowheads="1"/>
          </p:cNvSpPr>
          <p:nvPr>
            <p:ph type="title"/>
          </p:nvPr>
        </p:nvSpPr>
        <p:spPr/>
        <p:txBody>
          <a:bodyPr/>
          <a:lstStyle/>
          <a:p>
            <a:r>
              <a:rPr lang="en-US" altLang="en-US" dirty="0"/>
              <a:t>Auditory Training Programs</a:t>
            </a:r>
          </a:p>
        </p:txBody>
      </p:sp>
      <p:sp>
        <p:nvSpPr>
          <p:cNvPr id="73731" name="Rectangle 1027">
            <a:extLst>
              <a:ext uri="{FF2B5EF4-FFF2-40B4-BE49-F238E27FC236}">
                <a16:creationId xmlns:a16="http://schemas.microsoft.com/office/drawing/2014/main" id="{AF88A701-7958-489B-82C1-FBA839019266}"/>
              </a:ext>
            </a:extLst>
          </p:cNvPr>
          <p:cNvSpPr>
            <a:spLocks noGrp="1" noChangeArrowheads="1"/>
          </p:cNvSpPr>
          <p:nvPr>
            <p:ph idx="1"/>
          </p:nvPr>
        </p:nvSpPr>
        <p:spPr/>
        <p:txBody>
          <a:bodyPr/>
          <a:lstStyle/>
          <a:p>
            <a:r>
              <a:rPr lang="en-US" altLang="en-US" dirty="0"/>
              <a:t>Choose the AT program that best meets the child’s and the family’s needs.</a:t>
            </a:r>
          </a:p>
          <a:p>
            <a:r>
              <a:rPr lang="en-US" altLang="en-US" dirty="0"/>
              <a:t>All of the programs are structured using the same basic principles—</a:t>
            </a:r>
            <a:r>
              <a:rPr lang="en-US" altLang="en-US" b="1" dirty="0"/>
              <a:t>the hierarchy of listening skills</a:t>
            </a:r>
            <a:r>
              <a:rPr lang="en-US" altLang="en-US" dirty="0"/>
              <a:t>- </a:t>
            </a:r>
            <a:r>
              <a:rPr lang="en-US" altLang="en-US" b="1" dirty="0"/>
              <a:t>Erber’s levels of perception </a:t>
            </a:r>
          </a:p>
        </p:txBody>
      </p:sp>
      <p:sp>
        <p:nvSpPr>
          <p:cNvPr id="2" name="Slide Number Placeholder 1">
            <a:extLst>
              <a:ext uri="{FF2B5EF4-FFF2-40B4-BE49-F238E27FC236}">
                <a16:creationId xmlns:a16="http://schemas.microsoft.com/office/drawing/2014/main" id="{18193770-BCC2-4F7F-B421-A12DBFBDCAD7}"/>
              </a:ext>
            </a:extLst>
          </p:cNvPr>
          <p:cNvSpPr>
            <a:spLocks noGrp="1"/>
          </p:cNvSpPr>
          <p:nvPr>
            <p:ph type="sldNum" sz="quarter" idx="12"/>
          </p:nvPr>
        </p:nvSpPr>
        <p:spPr/>
        <p:txBody>
          <a:bodyPr/>
          <a:lstStyle/>
          <a:p>
            <a:fld id="{C51C943E-796B-416B-8F40-6FB0B60CFA1E}" type="slidenum">
              <a:rPr lang="en-US" smtClean="0"/>
              <a:t>54</a:t>
            </a:fld>
            <a:endParaRPr lang="en-US" dirty="0"/>
          </a:p>
        </p:txBody>
      </p:sp>
    </p:spTree>
    <p:extLst>
      <p:ext uri="{BB962C8B-B14F-4D97-AF65-F5344CB8AC3E}">
        <p14:creationId xmlns:p14="http://schemas.microsoft.com/office/powerpoint/2010/main" val="27216885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5C6141-FCEA-48BF-B129-3A248517F3CD}"/>
              </a:ext>
            </a:extLst>
          </p:cNvPr>
          <p:cNvSpPr>
            <a:spLocks noGrp="1"/>
          </p:cNvSpPr>
          <p:nvPr>
            <p:ph type="ctrTitle"/>
          </p:nvPr>
        </p:nvSpPr>
        <p:spPr/>
        <p:txBody>
          <a:bodyPr/>
          <a:lstStyle/>
          <a:p>
            <a:r>
              <a:rPr lang="en-US" dirty="0"/>
              <a:t>Goals</a:t>
            </a:r>
          </a:p>
        </p:txBody>
      </p:sp>
      <p:sp>
        <p:nvSpPr>
          <p:cNvPr id="6" name="Subtitle 5">
            <a:extLst>
              <a:ext uri="{FF2B5EF4-FFF2-40B4-BE49-F238E27FC236}">
                <a16:creationId xmlns:a16="http://schemas.microsoft.com/office/drawing/2014/main" id="{AB94698F-3862-4C24-B268-25296F9B78A7}"/>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CA270148-55C1-4AC2-ADA3-BC1176668E74}"/>
              </a:ext>
            </a:extLst>
          </p:cNvPr>
          <p:cNvSpPr>
            <a:spLocks noGrp="1"/>
          </p:cNvSpPr>
          <p:nvPr>
            <p:ph type="sldNum" sz="quarter" idx="12"/>
          </p:nvPr>
        </p:nvSpPr>
        <p:spPr/>
        <p:txBody>
          <a:bodyPr/>
          <a:lstStyle/>
          <a:p>
            <a:fld id="{C51C943E-796B-416B-8F40-6FB0B60CFA1E}" type="slidenum">
              <a:rPr lang="en-US" smtClean="0"/>
              <a:t>55</a:t>
            </a:fld>
            <a:endParaRPr lang="en-US" dirty="0"/>
          </a:p>
        </p:txBody>
      </p:sp>
    </p:spTree>
    <p:extLst>
      <p:ext uri="{BB962C8B-B14F-4D97-AF65-F5344CB8AC3E}">
        <p14:creationId xmlns:p14="http://schemas.microsoft.com/office/powerpoint/2010/main" val="42069833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211C-9744-4C3E-840B-921B4E37DCBB}"/>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E808B950-23EA-4ACD-8BF3-582053277431}"/>
              </a:ext>
            </a:extLst>
          </p:cNvPr>
          <p:cNvSpPr>
            <a:spLocks noGrp="1"/>
          </p:cNvSpPr>
          <p:nvPr>
            <p:ph idx="1"/>
          </p:nvPr>
        </p:nvSpPr>
        <p:spPr/>
        <p:txBody>
          <a:bodyPr>
            <a:normAutofit/>
          </a:bodyPr>
          <a:lstStyle/>
          <a:p>
            <a:r>
              <a:rPr lang="en-US" dirty="0"/>
              <a:t>John Tracey Clinic</a:t>
            </a:r>
          </a:p>
          <a:p>
            <a:r>
              <a:rPr lang="en-US" dirty="0"/>
              <a:t>Central Institute for the Deaf (creators of the SPICE curriculum)</a:t>
            </a:r>
          </a:p>
          <a:p>
            <a:r>
              <a:rPr lang="en-US"/>
              <a:t>BRIDGE Program </a:t>
            </a:r>
            <a:r>
              <a:rPr lang="en-US" dirty="0"/>
              <a:t>(Med EL)</a:t>
            </a:r>
          </a:p>
          <a:p>
            <a:r>
              <a:rPr lang="en-US" dirty="0"/>
              <a:t>The Listening Room (Advanced Bionics)</a:t>
            </a:r>
          </a:p>
          <a:p>
            <a:r>
              <a:rPr lang="en-US" dirty="0"/>
              <a:t>Sound Foundations (Cochlear Americas)</a:t>
            </a:r>
          </a:p>
          <a:p>
            <a:r>
              <a:rPr lang="en-US" dirty="0"/>
              <a:t>AG Bell</a:t>
            </a:r>
          </a:p>
          <a:p>
            <a:r>
              <a:rPr lang="en-US" dirty="0"/>
              <a:t>The SKI-HI Institute</a:t>
            </a:r>
          </a:p>
          <a:p>
            <a:endParaRPr lang="en-US" dirty="0"/>
          </a:p>
        </p:txBody>
      </p:sp>
      <p:sp>
        <p:nvSpPr>
          <p:cNvPr id="4" name="Slide Number Placeholder 3">
            <a:extLst>
              <a:ext uri="{FF2B5EF4-FFF2-40B4-BE49-F238E27FC236}">
                <a16:creationId xmlns:a16="http://schemas.microsoft.com/office/drawing/2014/main" id="{E1CD7D52-2621-44D1-937B-2C72D3022BB0}"/>
              </a:ext>
            </a:extLst>
          </p:cNvPr>
          <p:cNvSpPr>
            <a:spLocks noGrp="1"/>
          </p:cNvSpPr>
          <p:nvPr>
            <p:ph type="sldNum" sz="quarter" idx="12"/>
          </p:nvPr>
        </p:nvSpPr>
        <p:spPr/>
        <p:txBody>
          <a:bodyPr/>
          <a:lstStyle/>
          <a:p>
            <a:fld id="{C51C943E-796B-416B-8F40-6FB0B60CFA1E}" type="slidenum">
              <a:rPr lang="en-US" smtClean="0"/>
              <a:t>56</a:t>
            </a:fld>
            <a:endParaRPr lang="en-US" dirty="0"/>
          </a:p>
        </p:txBody>
      </p:sp>
    </p:spTree>
    <p:extLst>
      <p:ext uri="{BB962C8B-B14F-4D97-AF65-F5344CB8AC3E}">
        <p14:creationId xmlns:p14="http://schemas.microsoft.com/office/powerpoint/2010/main" val="42324552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8120DF99BB644E9771007C9190B7B3" ma:contentTypeVersion="18" ma:contentTypeDescription="Create a new document." ma:contentTypeScope="" ma:versionID="09ff49fc51bf1c86935ee03c530a9673">
  <xsd:schema xmlns:xsd="http://www.w3.org/2001/XMLSchema" xmlns:xs="http://www.w3.org/2001/XMLSchema" xmlns:p="http://schemas.microsoft.com/office/2006/metadata/properties" xmlns:ns3="23c887b8-e890-4f37-8024-cfeb35b742ab" xmlns:ns4="c08754f7-149c-41a6-8670-7e11775ae9eb" targetNamespace="http://schemas.microsoft.com/office/2006/metadata/properties" ma:root="true" ma:fieldsID="30b72e086e5e7663a57b71fb821dad76" ns3:_="" ns4:_="">
    <xsd:import namespace="23c887b8-e890-4f37-8024-cfeb35b742ab"/>
    <xsd:import namespace="c08754f7-149c-41a6-8670-7e11775ae9e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KeyPoints" minOccurs="0"/>
                <xsd:element ref="ns4:MediaServiceKeyPoints" minOccurs="0"/>
                <xsd:element ref="ns4:MediaLengthInSeconds" minOccurs="0"/>
                <xsd:element ref="ns4:MediaServiceAutoTags" minOccurs="0"/>
                <xsd:element ref="ns4:MediaServiceOCR" minOccurs="0"/>
                <xsd:element ref="ns4:MediaServiceGenerationTime" minOccurs="0"/>
                <xsd:element ref="ns4:MediaServiceEventHashCode" minOccurs="0"/>
                <xsd:element ref="ns4:MediaServiceLocation" minOccurs="0"/>
                <xsd:element ref="ns4:_activity" minOccurs="0"/>
                <xsd:element ref="ns4:MediaServiceObjectDetectorVersions" minOccurs="0"/>
                <xsd:element ref="ns4:MediaServiceSearchPropertie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c887b8-e890-4f37-8024-cfeb35b742a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8754f7-149c-41a6-8670-7e11775ae9e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08754f7-149c-41a6-8670-7e11775ae9eb" xsi:nil="true"/>
  </documentManagement>
</p:properties>
</file>

<file path=customXml/itemProps1.xml><?xml version="1.0" encoding="utf-8"?>
<ds:datastoreItem xmlns:ds="http://schemas.openxmlformats.org/officeDocument/2006/customXml" ds:itemID="{E0E73DA5-4234-4C24-9645-33321C505B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c887b8-e890-4f37-8024-cfeb35b742ab"/>
    <ds:schemaRef ds:uri="c08754f7-149c-41a6-8670-7e11775ae9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8093B2D-AB59-4D16-9EA2-9E42D0D7C06D}">
  <ds:schemaRefs>
    <ds:schemaRef ds:uri="http://schemas.microsoft.com/sharepoint/v3/contenttype/forms"/>
  </ds:schemaRefs>
</ds:datastoreItem>
</file>

<file path=customXml/itemProps3.xml><?xml version="1.0" encoding="utf-8"?>
<ds:datastoreItem xmlns:ds="http://schemas.openxmlformats.org/officeDocument/2006/customXml" ds:itemID="{35030C2D-94DC-44C3-868A-CC3900D38696}">
  <ds:schemaRefs>
    <ds:schemaRef ds:uri="http://purl.org/dc/elements/1.1/"/>
    <ds:schemaRef ds:uri="http://schemas.microsoft.com/office/infopath/2007/PartnerControls"/>
    <ds:schemaRef ds:uri="http://schemas.microsoft.com/office/2006/metadata/properties"/>
    <ds:schemaRef ds:uri="http://www.w3.org/XML/1998/namespace"/>
    <ds:schemaRef ds:uri="http://schemas.microsoft.com/office/2006/documentManagement/types"/>
    <ds:schemaRef ds:uri="http://purl.org/dc/dcmitype/"/>
    <ds:schemaRef ds:uri="http://purl.org/dc/terms/"/>
    <ds:schemaRef ds:uri="http://schemas.openxmlformats.org/package/2006/metadata/core-properties"/>
    <ds:schemaRef ds:uri="c08754f7-149c-41a6-8670-7e11775ae9eb"/>
    <ds:schemaRef ds:uri="23c887b8-e890-4f37-8024-cfeb35b742ab"/>
  </ds:schemaRefs>
</ds:datastoreItem>
</file>

<file path=docProps/app.xml><?xml version="1.0" encoding="utf-8"?>
<Properties xmlns="http://schemas.openxmlformats.org/officeDocument/2006/extended-properties" xmlns:vt="http://schemas.openxmlformats.org/officeDocument/2006/docPropsVTypes">
  <TotalTime>149</TotalTime>
  <Words>3589</Words>
  <Application>Microsoft Macintosh PowerPoint</Application>
  <PresentationFormat>Widescreen</PresentationFormat>
  <Paragraphs>454</Paragraphs>
  <Slides>56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Gill Sans MT</vt:lpstr>
      <vt:lpstr>Times New Roman</vt:lpstr>
      <vt:lpstr>Wingdings</vt:lpstr>
      <vt:lpstr>Gallery</vt:lpstr>
      <vt:lpstr>Auditory Training</vt:lpstr>
      <vt:lpstr>Auditory training</vt:lpstr>
      <vt:lpstr>Auditory training cont.</vt:lpstr>
      <vt:lpstr>Learning to Listen</vt:lpstr>
      <vt:lpstr>Early-intervention program</vt:lpstr>
      <vt:lpstr>Assessment of Auditory skills</vt:lpstr>
      <vt:lpstr>Nature of testing depends on:</vt:lpstr>
      <vt:lpstr>Assessing young children</vt:lpstr>
      <vt:lpstr>FAPI Document on Moodle </vt:lpstr>
      <vt:lpstr>Formal assessments for children:</vt:lpstr>
      <vt:lpstr>WIPI</vt:lpstr>
      <vt:lpstr>Nu-CHIPS</vt:lpstr>
      <vt:lpstr>Ling 10 Sounds</vt:lpstr>
      <vt:lpstr>Ling 10 continued</vt:lpstr>
      <vt:lpstr>ESP: Early speech perception test</vt:lpstr>
      <vt:lpstr>Gasp – Glendonald auditory screen procedure</vt:lpstr>
      <vt:lpstr>DASL II: Developmental Approach to Successful Listening</vt:lpstr>
      <vt:lpstr>Auditory training for infants and toddlers</vt:lpstr>
      <vt:lpstr>Basic Stages of Auditory Development  Hierarchy of Listening Skills/Levels of Perception Model (Erber)</vt:lpstr>
      <vt:lpstr>Detection of sounds (Sound Awareness)</vt:lpstr>
      <vt:lpstr>Detection cont.</vt:lpstr>
      <vt:lpstr>Examples of detection Tasks</vt:lpstr>
      <vt:lpstr>Detection/Sound awareness activities</vt:lpstr>
      <vt:lpstr>Example: Detection objective </vt:lpstr>
      <vt:lpstr>Discrimination </vt:lpstr>
      <vt:lpstr>Examples of discrimination tasks</vt:lpstr>
      <vt:lpstr>Discrimination activities</vt:lpstr>
      <vt:lpstr>Example: Discrimination objective </vt:lpstr>
      <vt:lpstr>Auditory Discrimination Hierarchy</vt:lpstr>
      <vt:lpstr>Identification </vt:lpstr>
      <vt:lpstr>Examples of Identification Tasks</vt:lpstr>
      <vt:lpstr>Example: Identification objective </vt:lpstr>
      <vt:lpstr>Identification</vt:lpstr>
      <vt:lpstr>Comprehension </vt:lpstr>
      <vt:lpstr>Examples of Comprehension Tasks </vt:lpstr>
      <vt:lpstr>Example: Comprehension objective </vt:lpstr>
      <vt:lpstr>Illustrative formal auditory training lesson plan</vt:lpstr>
      <vt:lpstr>Auditory training approaches in 4 categories:</vt:lpstr>
      <vt:lpstr>Analytic Auditory Approach</vt:lpstr>
      <vt:lpstr>Analytic Therapy Objectives</vt:lpstr>
      <vt:lpstr>synthetic</vt:lpstr>
      <vt:lpstr>Synthetic Therapy Objectives</vt:lpstr>
      <vt:lpstr>Pragmatic</vt:lpstr>
      <vt:lpstr>Eclectic:</vt:lpstr>
      <vt:lpstr>Goals of Auditory Training</vt:lpstr>
      <vt:lpstr>Four Design Principles</vt:lpstr>
      <vt:lpstr>3.  Activity Type</vt:lpstr>
      <vt:lpstr>Difficulty Level</vt:lpstr>
      <vt:lpstr>Formal Auditory training programs</vt:lpstr>
      <vt:lpstr>DASL II</vt:lpstr>
      <vt:lpstr>SPICE</vt:lpstr>
      <vt:lpstr>SKI HI</vt:lpstr>
      <vt:lpstr>Cottage Acquisition Scales For Listening, Language, and Speech </vt:lpstr>
      <vt:lpstr>Auditory Training Programs</vt:lpstr>
      <vt:lpstr>Goals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Auditory Function</dc:title>
  <dc:creator>mark sutherland</dc:creator>
  <cp:lastModifiedBy>Ethan T Heinrick</cp:lastModifiedBy>
  <cp:revision>24</cp:revision>
  <dcterms:created xsi:type="dcterms:W3CDTF">2020-10-12T00:57:40Z</dcterms:created>
  <dcterms:modified xsi:type="dcterms:W3CDTF">2026-10-22T18:01:18Z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0x010100938120DF99BB644E9771007C9190B7B3</vt:lpwstr>
  </property>
</Properties>
</file>